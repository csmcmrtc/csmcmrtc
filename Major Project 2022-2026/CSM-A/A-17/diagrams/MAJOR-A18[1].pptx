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72" r:id="rId5"/>
    <p:sldId id="260" r:id="rId6"/>
    <p:sldId id="261" r:id="rId7"/>
    <p:sldId id="262" r:id="rId8"/>
    <p:sldId id="273" r:id="rId9"/>
    <p:sldId id="276" r:id="rId10"/>
    <p:sldId id="277" r:id="rId11"/>
    <p:sldId id="278" r:id="rId12"/>
    <p:sldId id="279" r:id="rId13"/>
    <p:sldId id="280" r:id="rId14"/>
    <p:sldId id="281" r:id="rId15"/>
    <p:sldId id="274" r:id="rId16"/>
    <p:sldId id="275" r:id="rId17"/>
    <p:sldId id="26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8" d="100"/>
          <a:sy n="78" d="100"/>
        </p:scale>
        <p:origin x="9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674CB-3709-4ACF-BB61-29ADEA3D41BE}"/>
              </a:ext>
            </a:extLst>
          </p:cNvPr>
          <p:cNvSpPr>
            <a:spLocks noGrp="1"/>
          </p:cNvSpPr>
          <p:nvPr>
            <p:ph type="ctrTitle"/>
          </p:nvPr>
        </p:nvSpPr>
        <p:spPr>
          <a:xfrm>
            <a:off x="1524000" y="1033272"/>
            <a:ext cx="9144000" cy="2478024"/>
          </a:xfrm>
        </p:spPr>
        <p:txBody>
          <a:bodyPr lIns="0" tIns="0" rIns="0" bIns="0" anchor="b">
            <a:noAutofit/>
          </a:bodyPr>
          <a:lstStyle>
            <a:lvl1pPr algn="ctr">
              <a:defRPr sz="4000" spc="75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06DA6BE-9B64-48FC-92D1-EF0D426A3974}"/>
              </a:ext>
            </a:extLst>
          </p:cNvPr>
          <p:cNvSpPr>
            <a:spLocks noGrp="1"/>
          </p:cNvSpPr>
          <p:nvPr>
            <p:ph type="subTitle" idx="1"/>
          </p:nvPr>
        </p:nvSpPr>
        <p:spPr>
          <a:xfrm>
            <a:off x="1524000" y="3822192"/>
            <a:ext cx="9144000" cy="1435608"/>
          </a:xfrm>
        </p:spPr>
        <p:txBody>
          <a:bodyPr lIns="0" tIns="0" rIns="0" bIns="0">
            <a:normAutofit/>
          </a:bodyPr>
          <a:lstStyle>
            <a:lvl1pPr marL="0" indent="0" algn="ctr">
              <a:lnSpc>
                <a:spcPct val="150000"/>
              </a:lnSpc>
              <a:buNone/>
              <a:defRPr sz="1600" cap="all" spc="6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083AE59-8E21-449F-86DA-5BE297010864}"/>
              </a:ext>
            </a:extLst>
          </p:cNvPr>
          <p:cNvSpPr>
            <a:spLocks noGrp="1"/>
          </p:cNvSpPr>
          <p:nvPr>
            <p:ph type="dt" sz="half" idx="10"/>
          </p:nvPr>
        </p:nvSpPr>
        <p:spPr/>
        <p:txBody>
          <a:bodyPr/>
          <a:lstStyle/>
          <a:p>
            <a:fld id="{655A5808-3B61-48CC-92EF-85AC2E0DFA56}" type="datetime2">
              <a:rPr lang="en-US" smtClean="0"/>
              <a:t>Friday, October 24, 2025</a:t>
            </a:fld>
            <a:endParaRPr lang="en-US"/>
          </a:p>
        </p:txBody>
      </p:sp>
      <p:sp>
        <p:nvSpPr>
          <p:cNvPr id="5" name="Footer Placeholder 4">
            <a:extLst>
              <a:ext uri="{FF2B5EF4-FFF2-40B4-BE49-F238E27FC236}">
                <a16:creationId xmlns:a16="http://schemas.microsoft.com/office/drawing/2014/main" id="{4E8CCD60-9970-49FD-8254-21154BAA1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C0A488-07A7-42F9-B1DF-68545B75417D}"/>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792939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E0F35-0AE7-48AB-9005-F1DB4BD0B47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DDD4022-C31F-4C4C-B5BF-5F9730C08A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A45EE9-11D3-436C-9D73-1AA6CCDB165F}"/>
              </a:ext>
            </a:extLst>
          </p:cNvPr>
          <p:cNvSpPr>
            <a:spLocks noGrp="1"/>
          </p:cNvSpPr>
          <p:nvPr>
            <p:ph type="dt" sz="half" idx="10"/>
          </p:nvPr>
        </p:nvSpPr>
        <p:spPr/>
        <p:txBody>
          <a:bodyPr/>
          <a:lstStyle/>
          <a:p>
            <a:fld id="{2F3AF3C6-0FD4-4939-991C-00DDE5C56815}" type="datetime2">
              <a:rPr lang="en-US" smtClean="0"/>
              <a:t>Friday, October 24, 2025</a:t>
            </a:fld>
            <a:endParaRPr lang="en-US"/>
          </a:p>
        </p:txBody>
      </p:sp>
      <p:sp>
        <p:nvSpPr>
          <p:cNvPr id="5" name="Footer Placeholder 4">
            <a:extLst>
              <a:ext uri="{FF2B5EF4-FFF2-40B4-BE49-F238E27FC236}">
                <a16:creationId xmlns:a16="http://schemas.microsoft.com/office/drawing/2014/main" id="{92817DCF-881F-4956-81AE-A6D27A88F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65F17-AD75-4B7E-970D-5D4DBD5D170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06150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12CB-05D8-4D62-BDC5-812DB6DD04CD}"/>
              </a:ext>
            </a:extLst>
          </p:cNvPr>
          <p:cNvSpPr>
            <a:spLocks noGrp="1"/>
          </p:cNvSpPr>
          <p:nvPr>
            <p:ph type="title"/>
          </p:nvPr>
        </p:nvSpPr>
        <p:spPr>
          <a:xfrm>
            <a:off x="1371600" y="1709738"/>
            <a:ext cx="9966960" cy="2852737"/>
          </a:xfrm>
        </p:spPr>
        <p:txBody>
          <a:bodyPr anchor="b">
            <a:normAutofit/>
          </a:bodyPr>
          <a:lstStyle>
            <a:lvl1pPr>
              <a:lnSpc>
                <a:spcPct val="100000"/>
              </a:lnSpc>
              <a:defRPr sz="4400" spc="75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C52F020-8516-4B9E-B455-5731ED6C9E9E}"/>
              </a:ext>
            </a:extLst>
          </p:cNvPr>
          <p:cNvSpPr>
            <a:spLocks noGrp="1"/>
          </p:cNvSpPr>
          <p:nvPr>
            <p:ph type="body" idx="1"/>
          </p:nvPr>
        </p:nvSpPr>
        <p:spPr>
          <a:xfrm>
            <a:off x="1371600" y="4974336"/>
            <a:ext cx="9966961" cy="1115568"/>
          </a:xfrm>
        </p:spPr>
        <p:txBody>
          <a:bodyPr>
            <a:normAutofit/>
          </a:bodyPr>
          <a:lstStyle>
            <a:lvl1pPr marL="0" indent="0">
              <a:buNone/>
              <a:defRPr sz="1600" cap="all" spc="6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22993-6E28-44BB-B983-095B476B801A}"/>
              </a:ext>
            </a:extLst>
          </p:cNvPr>
          <p:cNvSpPr>
            <a:spLocks noGrp="1"/>
          </p:cNvSpPr>
          <p:nvPr>
            <p:ph type="dt" sz="half" idx="10"/>
          </p:nvPr>
        </p:nvSpPr>
        <p:spPr/>
        <p:txBody>
          <a:bodyPr/>
          <a:lstStyle/>
          <a:p>
            <a:fld id="{86807482-8128-47C6-A8DD-6452B0291CFF}" type="datetime2">
              <a:rPr lang="en-US" smtClean="0"/>
              <a:t>Friday, October 24, 2025</a:t>
            </a:fld>
            <a:endParaRPr lang="en-US"/>
          </a:p>
        </p:txBody>
      </p:sp>
      <p:sp>
        <p:nvSpPr>
          <p:cNvPr id="5" name="Footer Placeholder 4">
            <a:extLst>
              <a:ext uri="{FF2B5EF4-FFF2-40B4-BE49-F238E27FC236}">
                <a16:creationId xmlns:a16="http://schemas.microsoft.com/office/drawing/2014/main" id="{FC909971-06C9-462B-81D9-BEF24C708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9A076D-47C1-49CD-9A8B-956DB3FC31F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163642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8DFBD-F5ED-455C-8AD0-97476A55E3D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C30E58C-F463-4D52-9225-9410133113A4}"/>
              </a:ext>
            </a:extLst>
          </p:cNvPr>
          <p:cNvSpPr>
            <a:spLocks noGrp="1"/>
          </p:cNvSpPr>
          <p:nvPr>
            <p:ph sz="half" idx="1"/>
          </p:nvPr>
        </p:nvSpPr>
        <p:spPr>
          <a:xfrm>
            <a:off x="1371600" y="2112264"/>
            <a:ext cx="4846320"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6AF7BDB4-97FA-485D-A557-6F96692BAC9E}"/>
              </a:ext>
            </a:extLst>
          </p:cNvPr>
          <p:cNvSpPr>
            <a:spLocks noGrp="1"/>
          </p:cNvSpPr>
          <p:nvPr>
            <p:ph sz="half" idx="2"/>
          </p:nvPr>
        </p:nvSpPr>
        <p:spPr>
          <a:xfrm>
            <a:off x="6766560" y="2112265"/>
            <a:ext cx="4846320"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8C50007-C799-4117-8ACD-5EE980E63F17}"/>
              </a:ext>
            </a:extLst>
          </p:cNvPr>
          <p:cNvSpPr>
            <a:spLocks noGrp="1"/>
          </p:cNvSpPr>
          <p:nvPr>
            <p:ph type="dt" sz="half" idx="10"/>
          </p:nvPr>
        </p:nvSpPr>
        <p:spPr/>
        <p:txBody>
          <a:bodyPr/>
          <a:lstStyle/>
          <a:p>
            <a:fld id="{37903F25-275E-41DE-BE3B-EBF0DB49F9B1}" type="datetime2">
              <a:rPr lang="en-US" smtClean="0"/>
              <a:t>Friday, October 24, 2025</a:t>
            </a:fld>
            <a:endParaRPr lang="en-US"/>
          </a:p>
        </p:txBody>
      </p:sp>
      <p:sp>
        <p:nvSpPr>
          <p:cNvPr id="6" name="Footer Placeholder 5">
            <a:extLst>
              <a:ext uri="{FF2B5EF4-FFF2-40B4-BE49-F238E27FC236}">
                <a16:creationId xmlns:a16="http://schemas.microsoft.com/office/drawing/2014/main" id="{F24E8968-6BAD-4D5A-BF1D-911C7A39C1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9D8C08-BF20-4D5E-9004-0C075C36D8A4}"/>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966436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036E0D-26A5-455A-A8BD-70DA8BC03EB2}"/>
              </a:ext>
            </a:extLst>
          </p:cNvPr>
          <p:cNvSpPr>
            <a:spLocks noGrp="1"/>
          </p:cNvSpPr>
          <p:nvPr>
            <p:ph type="body" idx="1"/>
          </p:nvPr>
        </p:nvSpPr>
        <p:spPr>
          <a:xfrm>
            <a:off x="1371600" y="2112264"/>
            <a:ext cx="484107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FD4EA0-094D-4056-9032-BFB44B40896B}"/>
              </a:ext>
            </a:extLst>
          </p:cNvPr>
          <p:cNvSpPr>
            <a:spLocks noGrp="1"/>
          </p:cNvSpPr>
          <p:nvPr>
            <p:ph sz="half" idx="2"/>
          </p:nvPr>
        </p:nvSpPr>
        <p:spPr>
          <a:xfrm>
            <a:off x="1371600" y="3018472"/>
            <a:ext cx="4841076" cy="31048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FC0CCE8-718F-4620-8B4A-C60EEA7B884D}"/>
              </a:ext>
            </a:extLst>
          </p:cNvPr>
          <p:cNvSpPr>
            <a:spLocks noGrp="1"/>
          </p:cNvSpPr>
          <p:nvPr>
            <p:ph type="body" sz="quarter" idx="3"/>
          </p:nvPr>
        </p:nvSpPr>
        <p:spPr>
          <a:xfrm>
            <a:off x="6766560" y="2112264"/>
            <a:ext cx="484632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CE86DF-0069-4D31-BDD3-A9A2F9B7B468}"/>
              </a:ext>
            </a:extLst>
          </p:cNvPr>
          <p:cNvSpPr>
            <a:spLocks noGrp="1"/>
          </p:cNvSpPr>
          <p:nvPr>
            <p:ph sz="quarter" idx="4"/>
          </p:nvPr>
        </p:nvSpPr>
        <p:spPr>
          <a:xfrm>
            <a:off x="6766560" y="3018471"/>
            <a:ext cx="4841076" cy="3104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1A5ED06-FE54-4B86-A8D4-07D0EB08C3AB}"/>
              </a:ext>
            </a:extLst>
          </p:cNvPr>
          <p:cNvSpPr>
            <a:spLocks noGrp="1"/>
          </p:cNvSpPr>
          <p:nvPr>
            <p:ph type="dt" sz="half" idx="10"/>
          </p:nvPr>
        </p:nvSpPr>
        <p:spPr/>
        <p:txBody>
          <a:bodyPr/>
          <a:lstStyle/>
          <a:p>
            <a:fld id="{EE475572-4A44-4171-84AA-64D42C8050A6}" type="datetime2">
              <a:rPr lang="en-US" smtClean="0"/>
              <a:t>Friday, October 24, 2025</a:t>
            </a:fld>
            <a:endParaRPr lang="en-US"/>
          </a:p>
        </p:txBody>
      </p:sp>
      <p:sp>
        <p:nvSpPr>
          <p:cNvPr id="8" name="Footer Placeholder 7">
            <a:extLst>
              <a:ext uri="{FF2B5EF4-FFF2-40B4-BE49-F238E27FC236}">
                <a16:creationId xmlns:a16="http://schemas.microsoft.com/office/drawing/2014/main" id="{CE9EC6C3-0950-4AFE-936A-9AB5D227844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84B1D1-BE0C-48F4-BC74-90675A0F07CF}"/>
              </a:ext>
            </a:extLst>
          </p:cNvPr>
          <p:cNvSpPr>
            <a:spLocks noGrp="1"/>
          </p:cNvSpPr>
          <p:nvPr>
            <p:ph type="sldNum" sz="quarter" idx="12"/>
          </p:nvPr>
        </p:nvSpPr>
        <p:spPr/>
        <p:txBody>
          <a:bodyPr/>
          <a:lstStyle/>
          <a:p>
            <a:fld id="{C01389E6-C847-4AD0-B56D-D205B2EAB1EE}" type="slidenum">
              <a:rPr lang="en-US" smtClean="0"/>
              <a:t>‹#›</a:t>
            </a:fld>
            <a:endParaRPr lang="en-US"/>
          </a:p>
        </p:txBody>
      </p:sp>
      <p:sp>
        <p:nvSpPr>
          <p:cNvPr id="10" name="Title 9">
            <a:extLst>
              <a:ext uri="{FF2B5EF4-FFF2-40B4-BE49-F238E27FC236}">
                <a16:creationId xmlns:a16="http://schemas.microsoft.com/office/drawing/2014/main" id="{2D453288-3D76-40C1-BE00-223AB28F13DF}"/>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44478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B1716-24B0-42CD-95B6-843092597B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9E3617E-4B11-481F-AC6E-00031790294A}"/>
              </a:ext>
            </a:extLst>
          </p:cNvPr>
          <p:cNvSpPr>
            <a:spLocks noGrp="1"/>
          </p:cNvSpPr>
          <p:nvPr>
            <p:ph type="dt" sz="half" idx="10"/>
          </p:nvPr>
        </p:nvSpPr>
        <p:spPr/>
        <p:txBody>
          <a:bodyPr/>
          <a:lstStyle/>
          <a:p>
            <a:fld id="{C4C1612E-528E-4FD5-9E9E-E15F1108F171}" type="datetime2">
              <a:rPr lang="en-US" smtClean="0"/>
              <a:t>Friday, October 24, 2025</a:t>
            </a:fld>
            <a:endParaRPr lang="en-US"/>
          </a:p>
        </p:txBody>
      </p:sp>
      <p:sp>
        <p:nvSpPr>
          <p:cNvPr id="4" name="Footer Placeholder 3">
            <a:extLst>
              <a:ext uri="{FF2B5EF4-FFF2-40B4-BE49-F238E27FC236}">
                <a16:creationId xmlns:a16="http://schemas.microsoft.com/office/drawing/2014/main" id="{F6BF19CC-06D3-40E9-81B5-63B457B220C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FC312-3AA5-46F7-B701-3D9327A68DB7}"/>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200054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9E28E-1389-47AF-B3EB-22571417ACBE}"/>
              </a:ext>
            </a:extLst>
          </p:cNvPr>
          <p:cNvSpPr>
            <a:spLocks noGrp="1"/>
          </p:cNvSpPr>
          <p:nvPr>
            <p:ph type="dt" sz="half" idx="10"/>
          </p:nvPr>
        </p:nvSpPr>
        <p:spPr/>
        <p:txBody>
          <a:bodyPr/>
          <a:lstStyle/>
          <a:p>
            <a:fld id="{D4F6D862-A06D-436F-A92E-EBAAD50B6E50}" type="datetime2">
              <a:rPr lang="en-US" smtClean="0"/>
              <a:t>Friday, October 24, 2025</a:t>
            </a:fld>
            <a:endParaRPr lang="en-US"/>
          </a:p>
        </p:txBody>
      </p:sp>
      <p:sp>
        <p:nvSpPr>
          <p:cNvPr id="3" name="Footer Placeholder 2">
            <a:extLst>
              <a:ext uri="{FF2B5EF4-FFF2-40B4-BE49-F238E27FC236}">
                <a16:creationId xmlns:a16="http://schemas.microsoft.com/office/drawing/2014/main" id="{BFCF6B08-1984-4F7C-9F6E-A4F47BDBA21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71B3C5-CEC7-427F-931C-1318C421BEF9}"/>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4115205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EB55F-536E-4547-A5D2-0483FC3684CD}"/>
              </a:ext>
            </a:extLst>
          </p:cNvPr>
          <p:cNvSpPr>
            <a:spLocks noGrp="1"/>
          </p:cNvSpPr>
          <p:nvPr>
            <p:ph type="title"/>
          </p:nvPr>
        </p:nvSpPr>
        <p:spPr>
          <a:xfrm>
            <a:off x="1371600" y="987425"/>
            <a:ext cx="3932237" cy="1894511"/>
          </a:xfrm>
        </p:spPr>
        <p:txBody>
          <a:bodyPr anchor="b"/>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D717D3C-533B-4EA9-886B-FAE59956C74C}"/>
              </a:ext>
            </a:extLst>
          </p:cNvPr>
          <p:cNvSpPr>
            <a:spLocks noGrp="1"/>
          </p:cNvSpPr>
          <p:nvPr>
            <p:ph idx="1"/>
          </p:nvPr>
        </p:nvSpPr>
        <p:spPr>
          <a:xfrm>
            <a:off x="5650992" y="987425"/>
            <a:ext cx="5687568" cy="4873625"/>
          </a:xfrm>
        </p:spPr>
        <p:txBody>
          <a:bodyPr>
            <a:normAutofit/>
          </a:bodyPr>
          <a:lstStyle>
            <a:lvl1pPr>
              <a:defRPr sz="20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419D2E1-4B17-4608-961E-2C4719855E89}"/>
              </a:ext>
            </a:extLst>
          </p:cNvPr>
          <p:cNvSpPr>
            <a:spLocks noGrp="1"/>
          </p:cNvSpPr>
          <p:nvPr>
            <p:ph type="body" sz="half" idx="2"/>
          </p:nvPr>
        </p:nvSpPr>
        <p:spPr>
          <a:xfrm>
            <a:off x="1371600" y="3058510"/>
            <a:ext cx="3932237" cy="28025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5A3535-184C-438C-AE91-9C42B7C5AFB6}"/>
              </a:ext>
            </a:extLst>
          </p:cNvPr>
          <p:cNvSpPr>
            <a:spLocks noGrp="1"/>
          </p:cNvSpPr>
          <p:nvPr>
            <p:ph type="dt" sz="half" idx="10"/>
          </p:nvPr>
        </p:nvSpPr>
        <p:spPr/>
        <p:txBody>
          <a:bodyPr/>
          <a:lstStyle/>
          <a:p>
            <a:fld id="{B73E0B7D-2260-4809-8F0A-9E5F3E24F169}" type="datetime2">
              <a:rPr lang="en-US" smtClean="0"/>
              <a:t>Friday, October 24, 2025</a:t>
            </a:fld>
            <a:endParaRPr lang="en-US"/>
          </a:p>
        </p:txBody>
      </p:sp>
      <p:sp>
        <p:nvSpPr>
          <p:cNvPr id="6" name="Footer Placeholder 5">
            <a:extLst>
              <a:ext uri="{FF2B5EF4-FFF2-40B4-BE49-F238E27FC236}">
                <a16:creationId xmlns:a16="http://schemas.microsoft.com/office/drawing/2014/main" id="{0DF6DBC3-4A58-42BA-9B55-A9A7251037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4E6563-0AB6-4038-A12B-A259552DB66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543851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02C5-1E3B-4C62-A538-59BB572864A0}"/>
              </a:ext>
            </a:extLst>
          </p:cNvPr>
          <p:cNvSpPr>
            <a:spLocks noGrp="1"/>
          </p:cNvSpPr>
          <p:nvPr>
            <p:ph type="title"/>
          </p:nvPr>
        </p:nvSpPr>
        <p:spPr>
          <a:xfrm>
            <a:off x="1371600" y="987552"/>
            <a:ext cx="3932237" cy="1892808"/>
          </a:xfrm>
        </p:spPr>
        <p:txBody>
          <a:bodyPr anchor="b"/>
          <a:lstStyle>
            <a:lvl1pPr>
              <a:defRPr sz="3200"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E2CF574-95CE-4E60-B2CF-3B5B4F33A767}"/>
              </a:ext>
            </a:extLst>
          </p:cNvPr>
          <p:cNvSpPr>
            <a:spLocks noGrp="1"/>
          </p:cNvSpPr>
          <p:nvPr>
            <p:ph type="pic" idx="1"/>
          </p:nvPr>
        </p:nvSpPr>
        <p:spPr>
          <a:xfrm>
            <a:off x="5505319" y="987425"/>
            <a:ext cx="5833242"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6D039F7C-C735-4356-8B04-89E19047950C}"/>
              </a:ext>
            </a:extLst>
          </p:cNvPr>
          <p:cNvSpPr>
            <a:spLocks noGrp="1"/>
          </p:cNvSpPr>
          <p:nvPr>
            <p:ph type="body" sz="half" idx="2"/>
          </p:nvPr>
        </p:nvSpPr>
        <p:spPr>
          <a:xfrm>
            <a:off x="1371600" y="3033286"/>
            <a:ext cx="3932237" cy="283570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E706DF-52A3-4F34-9BF5-E1ACD5D54283}"/>
              </a:ext>
            </a:extLst>
          </p:cNvPr>
          <p:cNvSpPr>
            <a:spLocks noGrp="1"/>
          </p:cNvSpPr>
          <p:nvPr>
            <p:ph type="dt" sz="half" idx="10"/>
          </p:nvPr>
        </p:nvSpPr>
        <p:spPr/>
        <p:txBody>
          <a:bodyPr/>
          <a:lstStyle/>
          <a:p>
            <a:fld id="{3C8E4735-C637-46A3-94EB-AB3AC4188D2F}" type="datetime2">
              <a:rPr lang="en-US" smtClean="0"/>
              <a:t>Friday, October 24, 2025</a:t>
            </a:fld>
            <a:endParaRPr lang="en-US"/>
          </a:p>
        </p:txBody>
      </p:sp>
      <p:sp>
        <p:nvSpPr>
          <p:cNvPr id="6" name="Footer Placeholder 5">
            <a:extLst>
              <a:ext uri="{FF2B5EF4-FFF2-40B4-BE49-F238E27FC236}">
                <a16:creationId xmlns:a16="http://schemas.microsoft.com/office/drawing/2014/main" id="{BFB25E53-E72E-4110-BB6B-3477F56C3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686F8F-3D62-4CEC-AD9A-B70848E6A81C}"/>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1918203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DC3B6-2D75-4EC4-9120-88DCE0EA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4B06CB-A0FE-4499-B674-90C8C281A5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7FD700-765A-4DE6-A8EC-9D9D92FCBB42}"/>
              </a:ext>
            </a:extLst>
          </p:cNvPr>
          <p:cNvSpPr>
            <a:spLocks noGrp="1"/>
          </p:cNvSpPr>
          <p:nvPr>
            <p:ph type="dt" sz="half" idx="10"/>
          </p:nvPr>
        </p:nvSpPr>
        <p:spPr/>
        <p:txBody>
          <a:bodyPr/>
          <a:lstStyle/>
          <a:p>
            <a:fld id="{735E98AF-4574-4509-BF7A-519ACD5BF826}" type="datetime2">
              <a:rPr lang="en-US" smtClean="0"/>
              <a:t>Friday, October 24, 2025</a:t>
            </a:fld>
            <a:endParaRPr lang="en-US"/>
          </a:p>
        </p:txBody>
      </p:sp>
      <p:sp>
        <p:nvSpPr>
          <p:cNvPr id="5" name="Footer Placeholder 4">
            <a:extLst>
              <a:ext uri="{FF2B5EF4-FFF2-40B4-BE49-F238E27FC236}">
                <a16:creationId xmlns:a16="http://schemas.microsoft.com/office/drawing/2014/main" id="{0C4664EC-C4B1-4D14-9ED3-14C6CCBFF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F5526-E518-4133-9F44-D812576C1092}"/>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2720738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F62998-15B1-4CA8-8C60-7801001F8060}"/>
              </a:ext>
            </a:extLst>
          </p:cNvPr>
          <p:cNvSpPr>
            <a:spLocks noGrp="1"/>
          </p:cNvSpPr>
          <p:nvPr>
            <p:ph type="title" orient="vert"/>
          </p:nvPr>
        </p:nvSpPr>
        <p:spPr>
          <a:xfrm>
            <a:off x="8724900" y="838899"/>
            <a:ext cx="2628900" cy="48493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11AE278-0885-4594-AB09-120344C7D882}"/>
              </a:ext>
            </a:extLst>
          </p:cNvPr>
          <p:cNvSpPr>
            <a:spLocks noGrp="1"/>
          </p:cNvSpPr>
          <p:nvPr>
            <p:ph type="body" orient="vert" idx="1"/>
          </p:nvPr>
        </p:nvSpPr>
        <p:spPr>
          <a:xfrm>
            <a:off x="849235" y="838900"/>
            <a:ext cx="7723265" cy="484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5B850CC-FB43-4988-8D4E-9C54C20185B4}"/>
              </a:ext>
            </a:extLst>
          </p:cNvPr>
          <p:cNvSpPr>
            <a:spLocks noGrp="1"/>
          </p:cNvSpPr>
          <p:nvPr>
            <p:ph type="dt" sz="half" idx="10"/>
          </p:nvPr>
        </p:nvSpPr>
        <p:spPr/>
        <p:txBody>
          <a:bodyPr/>
          <a:lstStyle/>
          <a:p>
            <a:fld id="{93DD97D4-9636-490F-85D0-E926C2B6F3B1}" type="datetime2">
              <a:rPr lang="en-US" smtClean="0"/>
              <a:t>Friday, October 24, 2025</a:t>
            </a:fld>
            <a:endParaRPr lang="en-US"/>
          </a:p>
        </p:txBody>
      </p:sp>
      <p:sp>
        <p:nvSpPr>
          <p:cNvPr id="5" name="Footer Placeholder 4">
            <a:extLst>
              <a:ext uri="{FF2B5EF4-FFF2-40B4-BE49-F238E27FC236}">
                <a16:creationId xmlns:a16="http://schemas.microsoft.com/office/drawing/2014/main" id="{47A70300-3853-4FB4-A084-CF6E5CF2BD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DBAFB0-25AA-4B69-8418-418F47A92700}"/>
              </a:ext>
            </a:extLst>
          </p:cNvPr>
          <p:cNvSpPr>
            <a:spLocks noGrp="1"/>
          </p:cNvSpPr>
          <p:nvPr>
            <p:ph type="sldNum" sz="quarter" idx="12"/>
          </p:nvPr>
        </p:nvSpPr>
        <p:spPr/>
        <p:txBody>
          <a:bodyPr/>
          <a:lstStyle/>
          <a:p>
            <a:fld id="{C01389E6-C847-4AD0-B56D-D205B2EAB1EE}" type="slidenum">
              <a:rPr lang="en-US" smtClean="0"/>
              <a:t>‹#›</a:t>
            </a:fld>
            <a:endParaRPr lang="en-US"/>
          </a:p>
        </p:txBody>
      </p:sp>
    </p:spTree>
    <p:extLst>
      <p:ext uri="{BB962C8B-B14F-4D97-AF65-F5344CB8AC3E}">
        <p14:creationId xmlns:p14="http://schemas.microsoft.com/office/powerpoint/2010/main" val="33959973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CF2F3BB-127D-44BC-A8EF-A8BB5F5911CA}"/>
              </a:ext>
            </a:extLst>
          </p:cNvPr>
          <p:cNvSpPr/>
          <p:nvPr/>
        </p:nvSpPr>
        <p:spPr>
          <a:xfrm rot="10800000" flipH="1">
            <a:off x="0" y="6401226"/>
            <a:ext cx="12192000" cy="456773"/>
          </a:xfrm>
          <a:prstGeom prst="rect">
            <a:avLst/>
          </a:prstGeom>
          <a:gradFill>
            <a:gsLst>
              <a:gs pos="14000">
                <a:schemeClr val="accent4">
                  <a:alpha val="28000"/>
                </a:schemeClr>
              </a:gs>
              <a:gs pos="100000">
                <a:schemeClr val="accent5">
                  <a:alpha val="8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10D1F30-F118-4A1F-A48F-7E5706959F64}"/>
              </a:ext>
            </a:extLst>
          </p:cNvPr>
          <p:cNvSpPr/>
          <p:nvPr/>
        </p:nvSpPr>
        <p:spPr>
          <a:xfrm flipH="1">
            <a:off x="4038602" y="6401228"/>
            <a:ext cx="8153398" cy="456772"/>
          </a:xfrm>
          <a:prstGeom prst="rect">
            <a:avLst/>
          </a:prstGeom>
          <a:gradFill>
            <a:gsLst>
              <a:gs pos="9000">
                <a:schemeClr val="accent2">
                  <a:lumMod val="60000"/>
                  <a:lumOff val="40000"/>
                  <a:alpha val="55000"/>
                </a:schemeClr>
              </a:gs>
              <a:gs pos="99000">
                <a:schemeClr val="accent2"/>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7AE890C-17CE-44C0-BDED-BA68F92A845D}"/>
              </a:ext>
            </a:extLst>
          </p:cNvPr>
          <p:cNvSpPr>
            <a:spLocks noGrp="1"/>
          </p:cNvSpPr>
          <p:nvPr>
            <p:ph type="title"/>
          </p:nvPr>
        </p:nvSpPr>
        <p:spPr>
          <a:xfrm>
            <a:off x="1371600" y="795528"/>
            <a:ext cx="10241280" cy="1234440"/>
          </a:xfrm>
          <a:prstGeom prst="rect">
            <a:avLst/>
          </a:prstGeom>
        </p:spPr>
        <p:txBody>
          <a:bodyPr vert="horz" lIns="0" tIns="0" rIns="0" bIns="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910A6E-46D1-42CF-996C-2207737FB871}"/>
              </a:ext>
            </a:extLst>
          </p:cNvPr>
          <p:cNvSpPr>
            <a:spLocks noGrp="1"/>
          </p:cNvSpPr>
          <p:nvPr>
            <p:ph type="body" idx="1"/>
          </p:nvPr>
        </p:nvSpPr>
        <p:spPr>
          <a:xfrm>
            <a:off x="1371600" y="2112264"/>
            <a:ext cx="10241280" cy="395935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5B5247-D236-462B-BCE0-2A24DF75B085}"/>
              </a:ext>
            </a:extLst>
          </p:cNvPr>
          <p:cNvSpPr>
            <a:spLocks noGrp="1"/>
          </p:cNvSpPr>
          <p:nvPr>
            <p:ph type="dt" sz="half" idx="2"/>
          </p:nvPr>
        </p:nvSpPr>
        <p:spPr>
          <a:xfrm>
            <a:off x="7909560" y="6409944"/>
            <a:ext cx="3703320" cy="448056"/>
          </a:xfrm>
          <a:prstGeom prst="rect">
            <a:avLst/>
          </a:prstGeom>
        </p:spPr>
        <p:txBody>
          <a:bodyPr vert="horz" lIns="91440" tIns="45720" rIns="91440" bIns="45720" rtlCol="0" anchor="ctr"/>
          <a:lstStyle>
            <a:lvl1pPr algn="r">
              <a:defRPr sz="800" cap="all" spc="300" baseline="0">
                <a:solidFill>
                  <a:srgbClr val="FFFFFF"/>
                </a:solidFill>
              </a:defRPr>
            </a:lvl1pPr>
          </a:lstStyle>
          <a:p>
            <a:fld id="{AE0C963C-C1DB-4AFD-9DDC-0691666BF49B}" type="datetime2">
              <a:rPr lang="en-US" smtClean="0"/>
              <a:pPr/>
              <a:t>Friday, October 24, 2025</a:t>
            </a:fld>
            <a:endParaRPr lang="en-US" cap="all" dirty="0"/>
          </a:p>
        </p:txBody>
      </p:sp>
      <p:sp>
        <p:nvSpPr>
          <p:cNvPr id="5" name="Footer Placeholder 4">
            <a:extLst>
              <a:ext uri="{FF2B5EF4-FFF2-40B4-BE49-F238E27FC236}">
                <a16:creationId xmlns:a16="http://schemas.microsoft.com/office/drawing/2014/main" id="{19155C58-7DDF-4CD4-96AD-F9CC844D84CC}"/>
              </a:ext>
            </a:extLst>
          </p:cNvPr>
          <p:cNvSpPr>
            <a:spLocks noGrp="1"/>
          </p:cNvSpPr>
          <p:nvPr>
            <p:ph type="ftr" sz="quarter" idx="3"/>
          </p:nvPr>
        </p:nvSpPr>
        <p:spPr>
          <a:xfrm rot="5400000">
            <a:off x="-1828800" y="1911096"/>
            <a:ext cx="4114800" cy="457200"/>
          </a:xfrm>
          <a:prstGeom prst="rect">
            <a:avLst/>
          </a:prstGeom>
        </p:spPr>
        <p:txBody>
          <a:bodyPr vert="horz" lIns="91440" tIns="45720" rIns="91440" bIns="45720" rtlCol="0" anchor="ctr"/>
          <a:lstStyle>
            <a:lvl1pPr algn="l">
              <a:defRPr sz="800" b="1">
                <a:solidFill>
                  <a:schemeClr val="tx1"/>
                </a:solidFill>
                <a:latin typeface="+mj-lt"/>
              </a:defRPr>
            </a:lvl1pPr>
          </a:lstStyle>
          <a:p>
            <a:pPr algn="l"/>
            <a:endParaRPr lang="en-US"/>
          </a:p>
        </p:txBody>
      </p:sp>
      <p:sp>
        <p:nvSpPr>
          <p:cNvPr id="6" name="Slide Number Placeholder 5">
            <a:extLst>
              <a:ext uri="{FF2B5EF4-FFF2-40B4-BE49-F238E27FC236}">
                <a16:creationId xmlns:a16="http://schemas.microsoft.com/office/drawing/2014/main" id="{6F495647-A849-45D9-BC71-46A12E6DE479}"/>
              </a:ext>
            </a:extLst>
          </p:cNvPr>
          <p:cNvSpPr>
            <a:spLocks noGrp="1"/>
          </p:cNvSpPr>
          <p:nvPr>
            <p:ph type="sldNum" sz="quarter" idx="4"/>
          </p:nvPr>
        </p:nvSpPr>
        <p:spPr>
          <a:xfrm>
            <a:off x="11667744" y="6409944"/>
            <a:ext cx="438912" cy="448056"/>
          </a:xfrm>
          <a:prstGeom prst="rect">
            <a:avLst/>
          </a:prstGeom>
        </p:spPr>
        <p:txBody>
          <a:bodyPr vert="horz" lIns="91440" tIns="45720" rIns="91440" bIns="45720" rtlCol="0" anchor="ctr"/>
          <a:lstStyle>
            <a:lvl1pPr algn="r">
              <a:defRPr sz="800">
                <a:solidFill>
                  <a:srgbClr val="FFFFFF"/>
                </a:solidFill>
              </a:defRPr>
            </a:lvl1pPr>
          </a:lstStyle>
          <a:p>
            <a:fld id="{C01389E6-C847-4AD0-B56D-D205B2EAB1EE}" type="slidenum">
              <a:rPr lang="en-US" smtClean="0"/>
              <a:pPr/>
              <a:t>‹#›</a:t>
            </a:fld>
            <a:endParaRPr lang="en-US" sz="800" dirty="0"/>
          </a:p>
        </p:txBody>
      </p:sp>
    </p:spTree>
    <p:extLst>
      <p:ext uri="{BB962C8B-B14F-4D97-AF65-F5344CB8AC3E}">
        <p14:creationId xmlns:p14="http://schemas.microsoft.com/office/powerpoint/2010/main" val="4082366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456F5D-B657-0C95-EC74-6AB83FC82519}"/>
              </a:ext>
            </a:extLst>
          </p:cNvPr>
          <p:cNvPicPr>
            <a:picLocks noChangeAspect="1"/>
          </p:cNvPicPr>
          <p:nvPr/>
        </p:nvPicPr>
        <p:blipFill>
          <a:blip r:embed="rId2"/>
          <a:stretch>
            <a:fillRect/>
          </a:stretch>
        </p:blipFill>
        <p:spPr>
          <a:xfrm>
            <a:off x="5034046" y="3028890"/>
            <a:ext cx="2320554" cy="2313847"/>
          </a:xfrm>
          <a:prstGeom prst="rect">
            <a:avLst/>
          </a:prstGeom>
        </p:spPr>
      </p:pic>
      <p:sp>
        <p:nvSpPr>
          <p:cNvPr id="5" name="TextBox 4">
            <a:extLst>
              <a:ext uri="{FF2B5EF4-FFF2-40B4-BE49-F238E27FC236}">
                <a16:creationId xmlns:a16="http://schemas.microsoft.com/office/drawing/2014/main" id="{AF921F3A-20CC-419E-C5FE-4048E9C7330B}"/>
              </a:ext>
            </a:extLst>
          </p:cNvPr>
          <p:cNvSpPr txBox="1"/>
          <p:nvPr/>
        </p:nvSpPr>
        <p:spPr>
          <a:xfrm>
            <a:off x="881776" y="148418"/>
            <a:ext cx="10428444" cy="160043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solidFill>
                  <a:srgbClr val="00B0F0"/>
                </a:solidFill>
                <a:latin typeface="Times New Roman" panose="02020603050405020304" pitchFamily="18" charset="0"/>
                <a:cs typeface="Times New Roman" panose="02020603050405020304" pitchFamily="18" charset="0"/>
              </a:rPr>
              <a:t>CMR TECHNICAL CAMPUS</a:t>
            </a:r>
          </a:p>
          <a:p>
            <a:pPr algn="ctr"/>
            <a:r>
              <a:rPr lang="en-US" b="1" dirty="0">
                <a:solidFill>
                  <a:srgbClr val="00B0F0"/>
                </a:solidFill>
                <a:latin typeface="Times New Roman" panose="02020603050405020304" pitchFamily="18" charset="0"/>
                <a:cs typeface="Times New Roman" panose="02020603050405020304" pitchFamily="18" charset="0"/>
              </a:rPr>
              <a:t>UGC(Autonomous)</a:t>
            </a:r>
          </a:p>
          <a:p>
            <a:pPr algn="ctr"/>
            <a:r>
              <a:rPr lang="en-US" dirty="0" err="1">
                <a:latin typeface="Times New Roman" panose="02020603050405020304" pitchFamily="18" charset="0"/>
                <a:cs typeface="Times New Roman" panose="02020603050405020304" pitchFamily="18" charset="0"/>
              </a:rPr>
              <a:t>Kandlakoya</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Medchal</a:t>
            </a:r>
            <a:r>
              <a:rPr lang="en-US" dirty="0">
                <a:latin typeface="Times New Roman" panose="02020603050405020304" pitchFamily="18" charset="0"/>
                <a:cs typeface="Times New Roman" panose="02020603050405020304" pitchFamily="18" charset="0"/>
              </a:rPr>
              <a:t> Road, </a:t>
            </a:r>
            <a:r>
              <a:rPr lang="en-US" dirty="0" err="1">
                <a:latin typeface="Times New Roman" panose="02020603050405020304" pitchFamily="18" charset="0"/>
                <a:cs typeface="Times New Roman" panose="02020603050405020304" pitchFamily="18" charset="0"/>
              </a:rPr>
              <a:t>Hyd</a:t>
            </a:r>
            <a:r>
              <a:rPr lang="en-US" dirty="0">
                <a:latin typeface="Times New Roman" panose="02020603050405020304" pitchFamily="18" charset="0"/>
                <a:cs typeface="Times New Roman" panose="02020603050405020304" pitchFamily="18" charset="0"/>
              </a:rPr>
              <a:t> – 501401</a:t>
            </a:r>
          </a:p>
          <a:p>
            <a:pPr algn="ctr"/>
            <a:r>
              <a:rPr lang="en-US" sz="2000" b="1" dirty="0">
                <a:solidFill>
                  <a:srgbClr val="C00000"/>
                </a:solidFill>
                <a:latin typeface="Times New Roman" panose="02020603050405020304" pitchFamily="18" charset="0"/>
                <a:cs typeface="Times New Roman" panose="02020603050405020304" pitchFamily="18" charset="0"/>
              </a:rPr>
              <a:t>Department of CSE(AI&amp;ML) </a:t>
            </a:r>
            <a:endParaRPr lang="en-IN" sz="2000" b="1" dirty="0">
              <a:solidFill>
                <a:srgbClr val="00B050"/>
              </a:solidFill>
              <a:latin typeface="Times New Roman" panose="02020603050405020304" pitchFamily="18" charset="0"/>
              <a:cs typeface="Times New Roman" panose="02020603050405020304" pitchFamily="18" charset="0"/>
            </a:endParaRPr>
          </a:p>
          <a:p>
            <a:endParaRPr lang="en-IN" dirty="0"/>
          </a:p>
        </p:txBody>
      </p:sp>
      <p:sp>
        <p:nvSpPr>
          <p:cNvPr id="6" name="TextBox 5">
            <a:extLst>
              <a:ext uri="{FF2B5EF4-FFF2-40B4-BE49-F238E27FC236}">
                <a16:creationId xmlns:a16="http://schemas.microsoft.com/office/drawing/2014/main" id="{F3B415F8-A300-9C78-339A-8995364E9C7D}"/>
              </a:ext>
            </a:extLst>
          </p:cNvPr>
          <p:cNvSpPr txBox="1"/>
          <p:nvPr/>
        </p:nvSpPr>
        <p:spPr>
          <a:xfrm>
            <a:off x="2076088" y="1428452"/>
            <a:ext cx="8039819" cy="169277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IN" sz="1600" b="1" dirty="0">
                <a:solidFill>
                  <a:srgbClr val="00B050"/>
                </a:solidFill>
                <a:latin typeface="Times New Roman" panose="02020603050405020304" pitchFamily="18" charset="0"/>
                <a:cs typeface="Times New Roman" panose="02020603050405020304" pitchFamily="18" charset="0"/>
              </a:rPr>
              <a:t>Major</a:t>
            </a:r>
            <a:r>
              <a:rPr lang="en-US" sz="1600" b="1" dirty="0">
                <a:solidFill>
                  <a:srgbClr val="00B050"/>
                </a:solidFill>
                <a:latin typeface="Times New Roman" panose="02020603050405020304" pitchFamily="18" charset="0"/>
                <a:cs typeface="Times New Roman" panose="02020603050405020304" pitchFamily="18" charset="0"/>
              </a:rPr>
              <a:t> Project On </a:t>
            </a:r>
          </a:p>
          <a:p>
            <a:pPr marL="0" indent="0" algn="ctr">
              <a:buNone/>
            </a:pPr>
            <a:r>
              <a:rPr lang="en-US" sz="2800" b="1" dirty="0" err="1">
                <a:solidFill>
                  <a:srgbClr val="00B050"/>
                </a:solidFill>
                <a:latin typeface="Times New Roman" panose="02020603050405020304" pitchFamily="18" charset="0"/>
                <a:cs typeface="Times New Roman" panose="02020603050405020304" pitchFamily="18" charset="0"/>
              </a:rPr>
              <a:t>Agro</a:t>
            </a:r>
            <a:r>
              <a:rPr lang="en-US" sz="2800" b="1" dirty="0">
                <a:solidFill>
                  <a:srgbClr val="00B050"/>
                </a:solidFill>
                <a:latin typeface="Times New Roman" panose="02020603050405020304" pitchFamily="18" charset="0"/>
                <a:cs typeface="Times New Roman" panose="02020603050405020304" pitchFamily="18" charset="0"/>
              </a:rPr>
              <a:t> Connect </a:t>
            </a:r>
          </a:p>
          <a:p>
            <a:pPr marL="0" indent="0" algn="ctr">
              <a:buNone/>
            </a:pPr>
            <a:r>
              <a:rPr lang="en-US" sz="2000" b="1" dirty="0">
                <a:solidFill>
                  <a:srgbClr val="00B050"/>
                </a:solidFill>
                <a:latin typeface="Times New Roman" panose="02020603050405020304" pitchFamily="18" charset="0"/>
                <a:cs typeface="Times New Roman" panose="02020603050405020304" pitchFamily="18" charset="0"/>
              </a:rPr>
              <a:t>(Connecting the Roots of Commerce: From Soil to Shelf)</a:t>
            </a:r>
          </a:p>
          <a:p>
            <a:pPr marL="0" indent="0" algn="ctr">
              <a:buNone/>
            </a:pPr>
            <a:r>
              <a:rPr lang="en-US" sz="2000" b="1" dirty="0">
                <a:solidFill>
                  <a:schemeClr val="accent6">
                    <a:lumMod val="75000"/>
                  </a:schemeClr>
                </a:solidFill>
                <a:latin typeface="Times New Roman" panose="02020603050405020304" pitchFamily="18" charset="0"/>
                <a:cs typeface="Times New Roman" panose="02020603050405020304" pitchFamily="18" charset="0"/>
              </a:rPr>
              <a:t>SDG - 2 (Zero Hunger), SDG - 8 (DECENT WORK AND ECONOMIC GROWTH)</a:t>
            </a:r>
            <a:endParaRPr lang="en-IN" sz="1400" dirty="0">
              <a:solidFill>
                <a:schemeClr val="accent6">
                  <a:lumMod val="75000"/>
                </a:schemeClr>
              </a:solidFill>
            </a:endParaRPr>
          </a:p>
        </p:txBody>
      </p:sp>
      <p:sp>
        <p:nvSpPr>
          <p:cNvPr id="7" name="TextBox 6">
            <a:extLst>
              <a:ext uri="{FF2B5EF4-FFF2-40B4-BE49-F238E27FC236}">
                <a16:creationId xmlns:a16="http://schemas.microsoft.com/office/drawing/2014/main" id="{36306013-0109-935F-D55E-A79550C5E025}"/>
              </a:ext>
            </a:extLst>
          </p:cNvPr>
          <p:cNvSpPr txBox="1"/>
          <p:nvPr/>
        </p:nvSpPr>
        <p:spPr>
          <a:xfrm>
            <a:off x="1746530" y="5208142"/>
            <a:ext cx="10161949" cy="120032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800" b="1" dirty="0">
                <a:solidFill>
                  <a:srgbClr val="FF0000"/>
                </a:solidFill>
                <a:latin typeface="Times New Roman" panose="02020603050405020304" pitchFamily="18" charset="0"/>
                <a:cs typeface="Times New Roman" panose="02020603050405020304" pitchFamily="18" charset="0"/>
              </a:rPr>
              <a:t>Under the Guidance of:                                                                       </a:t>
            </a:r>
            <a:r>
              <a:rPr lang="en-US" b="1" dirty="0">
                <a:solidFill>
                  <a:srgbClr val="FF0000"/>
                </a:solidFill>
                <a:latin typeface="Times New Roman" panose="02020603050405020304" pitchFamily="18" charset="0"/>
                <a:cs typeface="Times New Roman" panose="02020603050405020304" pitchFamily="18" charset="0"/>
              </a:rPr>
              <a:t>Team Members</a:t>
            </a:r>
            <a:r>
              <a:rPr lang="en-US" sz="1800" b="1" dirty="0">
                <a:solidFill>
                  <a:srgbClr val="FF0000"/>
                </a:solidFill>
                <a:latin typeface="Times New Roman" panose="02020603050405020304" pitchFamily="18" charset="0"/>
                <a:cs typeface="Times New Roman" panose="02020603050405020304" pitchFamily="18" charset="0"/>
              </a:rPr>
              <a:t>:</a:t>
            </a:r>
          </a:p>
          <a:p>
            <a:r>
              <a:rPr lang="en-US" sz="1800" b="1" dirty="0">
                <a:latin typeface="Times New Roman" panose="02020603050405020304" pitchFamily="18" charset="0"/>
                <a:cs typeface="Times New Roman" panose="02020603050405020304" pitchFamily="18" charset="0"/>
              </a:rPr>
              <a:t>Mr. </a:t>
            </a:r>
            <a:r>
              <a:rPr lang="en-US" b="1" dirty="0">
                <a:latin typeface="Times New Roman" panose="02020603050405020304" pitchFamily="18" charset="0"/>
                <a:cs typeface="Times New Roman" panose="02020603050405020304" pitchFamily="18" charset="0"/>
              </a:rPr>
              <a:t>S. KIRAN</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T. </a:t>
            </a:r>
            <a:r>
              <a:rPr lang="en-US" sz="1800" dirty="0" err="1">
                <a:latin typeface="Times New Roman" panose="02020603050405020304" pitchFamily="18" charset="0"/>
                <a:cs typeface="Times New Roman" panose="02020603050405020304" pitchFamily="18" charset="0"/>
              </a:rPr>
              <a:t>Bhoopesh</a:t>
            </a:r>
            <a:r>
              <a:rPr lang="en-US" sz="1800" dirty="0">
                <a:latin typeface="Times New Roman" panose="02020603050405020304" pitchFamily="18" charset="0"/>
                <a:cs typeface="Times New Roman" panose="02020603050405020304" pitchFamily="18" charset="0"/>
              </a:rPr>
              <a:t> Kumar - 227R1A7362</a:t>
            </a:r>
          </a:p>
          <a:p>
            <a:r>
              <a:rPr lang="en-US" sz="1800" dirty="0">
                <a:latin typeface="Times New Roman" panose="02020603050405020304" pitchFamily="18" charset="0"/>
                <a:cs typeface="Times New Roman" panose="02020603050405020304" pitchFamily="18" charset="0"/>
              </a:rPr>
              <a:t>Assistant Professor of CSE(AI&amp;ML)                                                   </a:t>
            </a:r>
            <a:r>
              <a:rPr lang="en-US"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 Srishanth - </a:t>
            </a:r>
            <a:r>
              <a:rPr lang="en-US" dirty="0">
                <a:latin typeface="Times New Roman" panose="02020603050405020304" pitchFamily="18" charset="0"/>
                <a:cs typeface="Times New Roman" panose="02020603050405020304" pitchFamily="18" charset="0"/>
              </a:rPr>
              <a:t>227R1A7347</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                                                                                                                  J. Jeevan Kumar </a:t>
            </a:r>
            <a:r>
              <a:rPr lang="en-US" dirty="0">
                <a:latin typeface="Times New Roman" panose="02020603050405020304" pitchFamily="18" charset="0"/>
                <a:cs typeface="Times New Roman" panose="02020603050405020304" pitchFamily="18" charset="0"/>
              </a:rPr>
              <a:t>- 227R1A7330</a:t>
            </a:r>
            <a:endParaRPr lang="en-IN" dirty="0"/>
          </a:p>
        </p:txBody>
      </p:sp>
      <p:sp>
        <p:nvSpPr>
          <p:cNvPr id="8" name="TextBox 1">
            <a:extLst>
              <a:ext uri="{FF2B5EF4-FFF2-40B4-BE49-F238E27FC236}">
                <a16:creationId xmlns:a16="http://schemas.microsoft.com/office/drawing/2014/main" id="{F6CE706B-2508-58A4-0FFB-670FFBBFDFCD}"/>
              </a:ext>
            </a:extLst>
          </p:cNvPr>
          <p:cNvSpPr txBox="1"/>
          <p:nvPr/>
        </p:nvSpPr>
        <p:spPr>
          <a:xfrm>
            <a:off x="5692485" y="5244882"/>
            <a:ext cx="1338893"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b="1" dirty="0">
                <a:solidFill>
                  <a:srgbClr val="FF0000"/>
                </a:solidFill>
                <a:latin typeface="Times New Roman" panose="02020603050405020304" pitchFamily="18" charset="0"/>
                <a:cs typeface="Times New Roman" panose="02020603050405020304" pitchFamily="18" charset="0"/>
              </a:rPr>
              <a:t>Batch - A18</a:t>
            </a:r>
          </a:p>
        </p:txBody>
      </p:sp>
    </p:spTree>
    <p:extLst>
      <p:ext uri="{BB962C8B-B14F-4D97-AF65-F5344CB8AC3E}">
        <p14:creationId xmlns:p14="http://schemas.microsoft.com/office/powerpoint/2010/main" val="3688476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82E87-A0DD-73EF-E3D5-75AECE93F8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1168626-330C-8618-F189-826291EE8B06}"/>
              </a:ext>
            </a:extLst>
          </p:cNvPr>
          <p:cNvSpPr txBox="1"/>
          <p:nvPr/>
        </p:nvSpPr>
        <p:spPr>
          <a:xfrm>
            <a:off x="4002606" y="465512"/>
            <a:ext cx="4186787" cy="707886"/>
          </a:xfrm>
          <a:prstGeom prst="rect">
            <a:avLst/>
          </a:prstGeom>
          <a:noFill/>
        </p:spPr>
        <p:txBody>
          <a:bodyPr wrap="none" rtlCol="0">
            <a:spAutoFit/>
          </a:bodyPr>
          <a:lstStyle/>
          <a:p>
            <a:pPr algn="ctr"/>
            <a:r>
              <a:rPr lang="en-IN" sz="4000" b="1" u="sng" dirty="0">
                <a:latin typeface="Times New Roman" panose="02020603050405020304" pitchFamily="18" charset="0"/>
                <a:cs typeface="Times New Roman" panose="02020603050405020304" pitchFamily="18" charset="0"/>
              </a:rPr>
              <a:t>Table Of Contents</a:t>
            </a:r>
            <a:endParaRPr lang="en-US" sz="4000" b="1" u="sng"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E2D3257-A0A5-9B40-4CBE-F8A97FE2F6F8}"/>
              </a:ext>
            </a:extLst>
          </p:cNvPr>
          <p:cNvSpPr txBox="1"/>
          <p:nvPr/>
        </p:nvSpPr>
        <p:spPr>
          <a:xfrm>
            <a:off x="1338006" y="1173398"/>
            <a:ext cx="3263490" cy="5262979"/>
          </a:xfrm>
          <a:prstGeom prst="rect">
            <a:avLst/>
          </a:prstGeom>
          <a:noFill/>
        </p:spPr>
        <p:txBody>
          <a:bodyPr wrap="square" rtlCol="0">
            <a:spAutoFit/>
          </a:bodyPr>
          <a:lstStyle/>
          <a:p>
            <a:pPr marL="342900" indent="-342900">
              <a:buAutoNum type="arabicPeriod"/>
            </a:pPr>
            <a:r>
              <a:rPr lang="en-IN" sz="1600" dirty="0">
                <a:latin typeface="Times New Roman" panose="02020603050405020304" pitchFamily="18" charset="0"/>
                <a:cs typeface="Times New Roman" panose="02020603050405020304" pitchFamily="18" charset="0"/>
              </a:rPr>
              <a:t>Introduction</a:t>
            </a:r>
          </a:p>
          <a:p>
            <a:pPr marL="342900" indent="-342900">
              <a:buAutoNum type="arabicPeriod"/>
            </a:pPr>
            <a:endParaRPr lang="en-US" sz="1600" dirty="0">
              <a:latin typeface="Times New Roman" panose="02020603050405020304" pitchFamily="18" charset="0"/>
              <a:cs typeface="Times New Roman" panose="02020603050405020304" pitchFamily="18" charset="0"/>
            </a:endParaRPr>
          </a:p>
          <a:p>
            <a:pPr marL="342900" indent="-342900">
              <a:buAutoNum type="arabicPeriod"/>
            </a:pPr>
            <a:r>
              <a:rPr lang="en-US" sz="1600" dirty="0">
                <a:latin typeface="Times New Roman" panose="02020603050405020304" pitchFamily="18" charset="0"/>
                <a:cs typeface="Times New Roman" panose="02020603050405020304" pitchFamily="18" charset="0"/>
              </a:rPr>
              <a:t>Abstract</a:t>
            </a:r>
          </a:p>
          <a:p>
            <a:pPr marL="342900" indent="-342900">
              <a:buAutoNum type="arabicPeriod"/>
            </a:pPr>
            <a:endParaRPr lang="en-US" sz="1600" dirty="0">
              <a:latin typeface="Times New Roman" panose="02020603050405020304" pitchFamily="18" charset="0"/>
              <a:cs typeface="Times New Roman" panose="02020603050405020304" pitchFamily="18" charset="0"/>
            </a:endParaRPr>
          </a:p>
          <a:p>
            <a:pPr marL="342900" indent="-342900">
              <a:buAutoNum type="arabicPeriod"/>
            </a:pPr>
            <a:r>
              <a:rPr lang="en-US" sz="1600" dirty="0">
                <a:latin typeface="Times New Roman" panose="02020603050405020304" pitchFamily="18" charset="0"/>
                <a:cs typeface="Times New Roman" panose="02020603050405020304" pitchFamily="18" charset="0"/>
              </a:rPr>
              <a:t>Existing System</a:t>
            </a:r>
          </a:p>
          <a:p>
            <a:pPr marL="342900" indent="-342900">
              <a:buAutoNum type="arabicPeriod"/>
            </a:pPr>
            <a:endParaRPr lang="en-US" sz="1600" dirty="0">
              <a:latin typeface="Times New Roman" panose="02020603050405020304" pitchFamily="18" charset="0"/>
              <a:cs typeface="Times New Roman" panose="02020603050405020304" pitchFamily="18" charset="0"/>
            </a:endParaRPr>
          </a:p>
          <a:p>
            <a:pPr marL="342900" indent="-342900">
              <a:buAutoNum type="arabicPeriod"/>
            </a:pPr>
            <a:r>
              <a:rPr lang="en-US" sz="1600" dirty="0">
                <a:latin typeface="Times New Roman" panose="02020603050405020304" pitchFamily="18" charset="0"/>
                <a:cs typeface="Times New Roman" panose="02020603050405020304" pitchFamily="18" charset="0"/>
              </a:rPr>
              <a:t>Disadvantages</a:t>
            </a:r>
          </a:p>
          <a:p>
            <a:pPr marL="342900" indent="-342900">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IN" sz="1600" dirty="0">
                <a:latin typeface="Times New Roman" panose="02020603050405020304" pitchFamily="18" charset="0"/>
                <a:cs typeface="Times New Roman" panose="02020603050405020304" pitchFamily="18" charset="0"/>
              </a:rPr>
              <a:t>Proposed System</a:t>
            </a:r>
          </a:p>
          <a:p>
            <a:pPr marL="342900" indent="-342900">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IN" sz="1600" dirty="0">
                <a:latin typeface="Times New Roman" panose="02020603050405020304" pitchFamily="18" charset="0"/>
                <a:cs typeface="Times New Roman" panose="02020603050405020304" pitchFamily="18" charset="0"/>
              </a:rPr>
              <a:t>Advantages</a:t>
            </a:r>
          </a:p>
          <a:p>
            <a:pPr marL="342900" indent="-342900">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IN" sz="1600" dirty="0">
                <a:latin typeface="Times New Roman" panose="02020603050405020304" pitchFamily="18" charset="0"/>
                <a:cs typeface="Times New Roman" panose="02020603050405020304" pitchFamily="18" charset="0"/>
              </a:rPr>
              <a:t>System Architecture</a:t>
            </a:r>
          </a:p>
          <a:p>
            <a:pPr marL="342900" indent="-342900">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IN" sz="1600" dirty="0" err="1">
                <a:latin typeface="Times New Roman" panose="02020603050405020304" pitchFamily="18" charset="0"/>
                <a:cs typeface="Times New Roman" panose="02020603050405020304" pitchFamily="18" charset="0"/>
              </a:rPr>
              <a:t>Uml</a:t>
            </a:r>
            <a:r>
              <a:rPr lang="en-IN" sz="1600" dirty="0">
                <a:latin typeface="Times New Roman" panose="02020603050405020304" pitchFamily="18" charset="0"/>
                <a:cs typeface="Times New Roman" panose="02020603050405020304" pitchFamily="18" charset="0"/>
              </a:rPr>
              <a:t> diagram</a:t>
            </a:r>
          </a:p>
          <a:p>
            <a:pPr marL="342900" indent="-342900">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IN" sz="1600" dirty="0">
                <a:latin typeface="Times New Roman" panose="02020603050405020304" pitchFamily="18" charset="0"/>
                <a:cs typeface="Times New Roman" panose="02020603050405020304" pitchFamily="18" charset="0"/>
              </a:rPr>
              <a:t>Software Requirements</a:t>
            </a:r>
          </a:p>
          <a:p>
            <a:pPr marL="342900" indent="-342900">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IN" sz="1600" dirty="0">
                <a:latin typeface="Times New Roman" panose="02020603050405020304" pitchFamily="18" charset="0"/>
                <a:cs typeface="Times New Roman" panose="02020603050405020304" pitchFamily="18" charset="0"/>
              </a:rPr>
              <a:t>Hardware Requirements</a:t>
            </a:r>
          </a:p>
          <a:p>
            <a:pPr marL="342900" indent="-342900">
              <a:buAutoNum type="arabicPeriod"/>
            </a:pPr>
            <a:endParaRPr lang="en-IN" sz="1600" dirty="0">
              <a:latin typeface="Times New Roman" panose="02020603050405020304" pitchFamily="18" charset="0"/>
              <a:cs typeface="Times New Roman" panose="02020603050405020304" pitchFamily="18" charset="0"/>
            </a:endParaRPr>
          </a:p>
          <a:p>
            <a:pPr marL="342900" indent="-342900">
              <a:buAutoNum type="arabicPeriod"/>
            </a:pPr>
            <a:r>
              <a:rPr lang="en-IN" sz="16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2783674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27400-497F-37B5-23F6-922CB0919E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168E5-275F-515E-3880-23DF228E5EEA}"/>
              </a:ext>
            </a:extLst>
          </p:cNvPr>
          <p:cNvSpPr>
            <a:spLocks noGrp="1"/>
          </p:cNvSpPr>
          <p:nvPr>
            <p:ph type="title"/>
          </p:nvPr>
        </p:nvSpPr>
        <p:spPr>
          <a:xfrm>
            <a:off x="1296785" y="-231925"/>
            <a:ext cx="10241280" cy="1234440"/>
          </a:xfrm>
        </p:spPr>
        <p:txBody>
          <a:bodyPr/>
          <a:lstStyle/>
          <a:p>
            <a:pPr algn="ctr"/>
            <a:r>
              <a:rPr lang="en-IN" u="sng" dirty="0">
                <a:latin typeface="Times New Roman" panose="02020603050405020304" pitchFamily="18" charset="0"/>
                <a:cs typeface="Times New Roman" panose="02020603050405020304" pitchFamily="18" charset="0"/>
              </a:rPr>
              <a:t>Introduction</a:t>
            </a:r>
            <a:endParaRPr lang="en-US"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4B060D-1C31-8497-DC36-DBB6B04B4F26}"/>
              </a:ext>
            </a:extLst>
          </p:cNvPr>
          <p:cNvSpPr>
            <a:spLocks noGrp="1"/>
          </p:cNvSpPr>
          <p:nvPr>
            <p:ph idx="1"/>
          </p:nvPr>
        </p:nvSpPr>
        <p:spPr>
          <a:xfrm>
            <a:off x="975360" y="1580250"/>
            <a:ext cx="10241280" cy="3959352"/>
          </a:xfrm>
        </p:spPr>
        <p:txBody>
          <a:bodyPr>
            <a:normAutofit/>
          </a:bodyPr>
          <a:lstStyle/>
          <a:p>
            <a:pPr marL="0" indent="0">
              <a:buNone/>
            </a:pPr>
            <a:r>
              <a:rPr lang="en-US" b="1" dirty="0">
                <a:latin typeface="Times New Roman" panose="02020603050405020304" pitchFamily="18" charset="0"/>
                <a:ea typeface="Calibri" panose="020F0502020204030204" pitchFamily="34" charset="0"/>
                <a:cs typeface="Times New Roman" panose="02020603050405020304" pitchFamily="18" charset="0"/>
              </a:rPr>
              <a:t>The Heart of Our Economy: Agriculture</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r>
              <a:rPr lang="en-US" dirty="0">
                <a:latin typeface="Times New Roman" panose="02020603050405020304" pitchFamily="18" charset="0"/>
                <a:ea typeface="Calibri" panose="020F0502020204030204" pitchFamily="34" charset="0"/>
                <a:cs typeface="Times New Roman" panose="02020603050405020304" pitchFamily="18" charset="0"/>
              </a:rPr>
              <a:t>The agricultural sector is fundamental to our survival and economy, yet it operates on outdated, inefficient systems.</a:t>
            </a:r>
          </a:p>
          <a:p>
            <a:r>
              <a:rPr lang="en-US" dirty="0">
                <a:latin typeface="Times New Roman" panose="02020603050405020304" pitchFamily="18" charset="0"/>
                <a:ea typeface="Calibri" panose="020F0502020204030204" pitchFamily="34" charset="0"/>
                <a:cs typeface="Times New Roman" panose="02020603050405020304" pitchFamily="18" charset="0"/>
              </a:rPr>
              <a:t>Key players—farmers and buyers—are disconnected, leading to lost value and opportunity at every step.</a:t>
            </a:r>
          </a:p>
          <a:p>
            <a:r>
              <a:rPr lang="en-US" b="1" dirty="0">
                <a:latin typeface="Times New Roman" panose="02020603050405020304" pitchFamily="18" charset="0"/>
                <a:ea typeface="Calibri" panose="020F0502020204030204" pitchFamily="34" charset="0"/>
                <a:cs typeface="Times New Roman" panose="02020603050405020304" pitchFamily="18" charset="0"/>
              </a:rPr>
              <a:t>The core problem:</a:t>
            </a:r>
            <a:r>
              <a:rPr lang="en-US" dirty="0">
                <a:latin typeface="Times New Roman" panose="02020603050405020304" pitchFamily="18" charset="0"/>
                <a:ea typeface="Calibri" panose="020F0502020204030204" pitchFamily="34" charset="0"/>
                <a:cs typeface="Times New Roman" panose="02020603050405020304" pitchFamily="18" charset="0"/>
              </a:rPr>
              <a:t> A fragmented supply chain where farmers lack access to essential resources  profitable markets (buyers).</a:t>
            </a:r>
          </a:p>
          <a:p>
            <a:r>
              <a:rPr lang="en-US" b="1" dirty="0">
                <a:latin typeface="Times New Roman" panose="02020603050405020304" pitchFamily="18" charset="0"/>
                <a:ea typeface="Calibri" panose="020F0502020204030204" pitchFamily="34" charset="0"/>
                <a:cs typeface="Times New Roman" panose="02020603050405020304" pitchFamily="18" charset="0"/>
              </a:rPr>
              <a:t>Our Vision:</a:t>
            </a:r>
            <a:r>
              <a:rPr lang="en-US" dirty="0">
                <a:latin typeface="Times New Roman" panose="02020603050405020304" pitchFamily="18" charset="0"/>
                <a:ea typeface="Calibri" panose="020F0502020204030204" pitchFamily="34" charset="0"/>
                <a:cs typeface="Times New Roman" panose="02020603050405020304" pitchFamily="18" charset="0"/>
              </a:rPr>
              <a:t> To create a single, unified digital ecosystem that empowers every participant in the agricultural value chain, from the soil to the shelf.</a:t>
            </a:r>
          </a:p>
          <a:p>
            <a:pPr algn="just">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dirty="0">
              <a:effectLst/>
              <a:latin typeface="Times New Roman" panose="02020603050405020304" pitchFamily="18" charset="0"/>
              <a:ea typeface="Times New Roman" panose="02020603050405020304" pitchFamily="18" charset="0"/>
            </a:endParaRPr>
          </a:p>
          <a:p>
            <a:endParaRPr lang="en-US" sz="2400" dirty="0"/>
          </a:p>
        </p:txBody>
      </p:sp>
    </p:spTree>
    <p:extLst>
      <p:ext uri="{BB962C8B-B14F-4D97-AF65-F5344CB8AC3E}">
        <p14:creationId xmlns:p14="http://schemas.microsoft.com/office/powerpoint/2010/main" val="1351743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A1B98-BFB6-5772-1D44-23AA91B2DB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A69360-BF37-DD0C-DB28-ECE11A80255E}"/>
              </a:ext>
            </a:extLst>
          </p:cNvPr>
          <p:cNvSpPr>
            <a:spLocks noGrp="1"/>
          </p:cNvSpPr>
          <p:nvPr>
            <p:ph type="title"/>
          </p:nvPr>
        </p:nvSpPr>
        <p:spPr>
          <a:xfrm>
            <a:off x="975360" y="-184791"/>
            <a:ext cx="10241280" cy="1234440"/>
          </a:xfrm>
        </p:spPr>
        <p:txBody>
          <a:bodyPr/>
          <a:lstStyle/>
          <a:p>
            <a:pPr algn="ctr"/>
            <a:r>
              <a:rPr lang="en-IN" u="sng" dirty="0" err="1">
                <a:latin typeface="Times New Roman" panose="02020603050405020304" pitchFamily="18" charset="0"/>
                <a:cs typeface="Times New Roman" panose="02020603050405020304" pitchFamily="18" charset="0"/>
              </a:rPr>
              <a:t>ABSTRACt</a:t>
            </a:r>
            <a:endParaRPr lang="en-US"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58773FF-1190-7897-EFA0-0711AB9B6083}"/>
              </a:ext>
            </a:extLst>
          </p:cNvPr>
          <p:cNvSpPr>
            <a:spLocks noGrp="1"/>
          </p:cNvSpPr>
          <p:nvPr>
            <p:ph idx="1"/>
          </p:nvPr>
        </p:nvSpPr>
        <p:spPr>
          <a:xfrm>
            <a:off x="975360" y="1580250"/>
            <a:ext cx="10241280" cy="3959352"/>
          </a:xfrm>
        </p:spPr>
        <p:txBody>
          <a:bodyPr>
            <a:normAutofit/>
          </a:bodyPr>
          <a:lstStyle/>
          <a:p>
            <a:pPr marL="0" indent="0" algn="just">
              <a:lnSpc>
                <a:spcPct val="150000"/>
              </a:lnSpc>
              <a:buNone/>
            </a:pP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AgroConnect</a:t>
            </a:r>
            <a:r>
              <a:rPr lang="en-US" dirty="0">
                <a:latin typeface="Times New Roman" panose="02020603050405020304" pitchFamily="18" charset="0"/>
                <a:cs typeface="Times New Roman" panose="02020603050405020304" pitchFamily="18" charset="0"/>
              </a:rPr>
              <a:t> is an online platform that bridges the gap between farmers and wholesale buyers by creating a transparent, direct-to-market ecosystem. Farmers can list their fresh produce and connect with verified wholesalers and retailers, eliminating middlemen and securing fair prices. The platform ensures secure transactions, builds trust through ratings and reviews, and offers real-time market visibility to streamline the buying and selling process. By simplifying distribution and improving profitability, </a:t>
            </a:r>
            <a:r>
              <a:rPr lang="en-US" dirty="0" err="1">
                <a:latin typeface="Times New Roman" panose="02020603050405020304" pitchFamily="18" charset="0"/>
                <a:cs typeface="Times New Roman" panose="02020603050405020304" pitchFamily="18" charset="0"/>
              </a:rPr>
              <a:t>AgroConnect</a:t>
            </a:r>
            <a:r>
              <a:rPr lang="en-US" dirty="0">
                <a:latin typeface="Times New Roman" panose="02020603050405020304" pitchFamily="18" charset="0"/>
                <a:cs typeface="Times New Roman" panose="02020603050405020304" pitchFamily="18" charset="0"/>
              </a:rPr>
              <a:t> promotes a more efficient, transparent, and sustainable agricultural supply chain..</a:t>
            </a:r>
            <a:endParaRPr lang="en-IN"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dirty="0">
              <a:effectLst/>
              <a:latin typeface="Times New Roman" panose="02020603050405020304" pitchFamily="18" charset="0"/>
              <a:ea typeface="Times New Roman" panose="02020603050405020304" pitchFamily="18" charset="0"/>
            </a:endParaRPr>
          </a:p>
          <a:p>
            <a:pPr algn="just">
              <a:lnSpc>
                <a:spcPct val="150000"/>
              </a:lnSpc>
            </a:pPr>
            <a:endParaRPr lang="en-US" sz="2400" dirty="0"/>
          </a:p>
        </p:txBody>
      </p:sp>
    </p:spTree>
    <p:extLst>
      <p:ext uri="{BB962C8B-B14F-4D97-AF65-F5344CB8AC3E}">
        <p14:creationId xmlns:p14="http://schemas.microsoft.com/office/powerpoint/2010/main" val="3677475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451E1-2C4D-7220-C4FF-7B8FCC068C0C}"/>
              </a:ext>
            </a:extLst>
          </p:cNvPr>
          <p:cNvSpPr>
            <a:spLocks noGrp="1"/>
          </p:cNvSpPr>
          <p:nvPr>
            <p:ph type="title"/>
          </p:nvPr>
        </p:nvSpPr>
        <p:spPr>
          <a:xfrm>
            <a:off x="1271848" y="0"/>
            <a:ext cx="10241280" cy="1234440"/>
          </a:xfrm>
        </p:spPr>
        <p:txBody>
          <a:bodyPr/>
          <a:lstStyle/>
          <a:p>
            <a:pPr algn="ctr"/>
            <a:r>
              <a:rPr lang="en-IN" u="sng" dirty="0">
                <a:latin typeface="Times New Roman" panose="02020603050405020304" pitchFamily="18" charset="0"/>
                <a:cs typeface="Times New Roman" panose="02020603050405020304" pitchFamily="18" charset="0"/>
              </a:rPr>
              <a:t>EXISTING SYSTEM</a:t>
            </a:r>
            <a:endParaRPr lang="en-US"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210EC2-8668-11B5-6CF5-894CC80D9628}"/>
              </a:ext>
            </a:extLst>
          </p:cNvPr>
          <p:cNvSpPr>
            <a:spLocks noGrp="1"/>
          </p:cNvSpPr>
          <p:nvPr>
            <p:ph idx="1"/>
          </p:nvPr>
        </p:nvSpPr>
        <p:spPr>
          <a:xfrm>
            <a:off x="975360" y="1449324"/>
            <a:ext cx="10241280" cy="3959352"/>
          </a:xfrm>
        </p:spPr>
        <p:txBody>
          <a:bodyPr>
            <a:noAutofit/>
          </a:bodyPr>
          <a:lstStyle/>
          <a:p>
            <a:pPr marL="0" indent="0">
              <a:buNone/>
            </a:pPr>
            <a:r>
              <a:rPr lang="en-US" sz="1700" b="1" dirty="0">
                <a:latin typeface="Times New Roman" panose="02020603050405020304" pitchFamily="18" charset="0"/>
                <a:cs typeface="Times New Roman" panose="02020603050405020304" pitchFamily="18" charset="0"/>
              </a:rPr>
              <a:t> .  The Sales Process:</a:t>
            </a:r>
            <a:endParaRPr lang="en-US" sz="1700" dirty="0">
              <a:latin typeface="Times New Roman" panose="02020603050405020304" pitchFamily="18" charset="0"/>
              <a:cs typeface="Times New Roman" panose="02020603050405020304" pitchFamily="18" charset="0"/>
            </a:endParaRPr>
          </a:p>
          <a:p>
            <a:pPr lvl="1"/>
            <a:r>
              <a:rPr lang="en-US" sz="1700" dirty="0">
                <a:latin typeface="Times New Roman" panose="02020603050405020304" pitchFamily="18" charset="0"/>
                <a:cs typeface="Times New Roman" panose="02020603050405020304" pitchFamily="18" charset="0"/>
              </a:rPr>
              <a:t>After harvest, farmers sell to </a:t>
            </a:r>
            <a:r>
              <a:rPr lang="en-US" sz="1700" b="1" dirty="0">
                <a:latin typeface="Times New Roman" panose="02020603050405020304" pitchFamily="18" charset="0"/>
                <a:cs typeface="Times New Roman" panose="02020603050405020304" pitchFamily="18" charset="0"/>
              </a:rPr>
              <a:t>local commission agents or middlemen</a:t>
            </a:r>
            <a:r>
              <a:rPr lang="en-US" sz="1700" dirty="0">
                <a:latin typeface="Times New Roman" panose="02020603050405020304" pitchFamily="18" charset="0"/>
                <a:cs typeface="Times New Roman" panose="02020603050405020304" pitchFamily="18" charset="0"/>
              </a:rPr>
              <a:t> because they lack access to larger markets.</a:t>
            </a:r>
          </a:p>
          <a:p>
            <a:pPr lvl="1"/>
            <a:r>
              <a:rPr lang="en-US" sz="1700" dirty="0">
                <a:latin typeface="Times New Roman" panose="02020603050405020304" pitchFamily="18" charset="0"/>
                <a:cs typeface="Times New Roman" panose="02020603050405020304" pitchFamily="18" charset="0"/>
              </a:rPr>
              <a:t>These middlemen consolidate produce and transport it to a central wholesale market (</a:t>
            </a:r>
            <a:r>
              <a:rPr lang="en-US" sz="1700" i="1" dirty="0">
                <a:latin typeface="Times New Roman" panose="02020603050405020304" pitchFamily="18" charset="0"/>
                <a:cs typeface="Times New Roman" panose="02020603050405020304" pitchFamily="18" charset="0"/>
              </a:rPr>
              <a:t>mandi</a:t>
            </a:r>
            <a:r>
              <a:rPr lang="en-US" sz="1700" dirty="0">
                <a:latin typeface="Times New Roman" panose="02020603050405020304" pitchFamily="18" charset="0"/>
                <a:cs typeface="Times New Roman" panose="02020603050405020304" pitchFamily="18" charset="0"/>
              </a:rPr>
              <a:t>).</a:t>
            </a:r>
          </a:p>
          <a:p>
            <a:pPr lvl="1"/>
            <a:r>
              <a:rPr lang="en-US" sz="1700" dirty="0">
                <a:latin typeface="Times New Roman" panose="02020603050405020304" pitchFamily="18" charset="0"/>
                <a:cs typeface="Times New Roman" panose="02020603050405020304" pitchFamily="18" charset="0"/>
              </a:rPr>
              <a:t>Wholesalers and retailers then purchase from these middlemen, often with little to no information about the produce's origin.</a:t>
            </a:r>
          </a:p>
          <a:p>
            <a:r>
              <a:rPr lang="en-US" sz="1700" b="1" dirty="0">
                <a:latin typeface="Times New Roman" panose="02020603050405020304" pitchFamily="18" charset="0"/>
                <a:cs typeface="Times New Roman" panose="02020603050405020304" pitchFamily="18" charset="0"/>
              </a:rPr>
              <a:t>Key Characteristics:</a:t>
            </a:r>
            <a:endParaRPr lang="en-US" sz="1700" dirty="0">
              <a:latin typeface="Times New Roman" panose="02020603050405020304" pitchFamily="18" charset="0"/>
              <a:cs typeface="Times New Roman" panose="02020603050405020304" pitchFamily="18" charset="0"/>
            </a:endParaRPr>
          </a:p>
          <a:p>
            <a:pPr lvl="1"/>
            <a:r>
              <a:rPr lang="en-US" sz="1700" b="1" dirty="0">
                <a:latin typeface="Times New Roman" panose="02020603050405020304" pitchFamily="18" charset="0"/>
                <a:cs typeface="Times New Roman" panose="02020603050405020304" pitchFamily="18" charset="0"/>
              </a:rPr>
              <a:t>Hyper-Localized:</a:t>
            </a:r>
            <a:r>
              <a:rPr lang="en-US" sz="1700" dirty="0">
                <a:latin typeface="Times New Roman" panose="02020603050405020304" pitchFamily="18" charset="0"/>
                <a:cs typeface="Times New Roman" panose="02020603050405020304" pitchFamily="18" charset="0"/>
              </a:rPr>
              <a:t> Opportunities are limited to one's immediate geography and social circle.</a:t>
            </a:r>
          </a:p>
          <a:p>
            <a:pPr lvl="1"/>
            <a:r>
              <a:rPr lang="en-US" sz="1700" b="1" dirty="0">
                <a:latin typeface="Times New Roman" panose="02020603050405020304" pitchFamily="18" charset="0"/>
                <a:cs typeface="Times New Roman" panose="02020603050405020304" pitchFamily="18" charset="0"/>
              </a:rPr>
              <a:t>Relationship-Dependent:</a:t>
            </a:r>
            <a:r>
              <a:rPr lang="en-US" sz="1700" dirty="0">
                <a:latin typeface="Times New Roman" panose="02020603050405020304" pitchFamily="18" charset="0"/>
                <a:cs typeface="Times New Roman" panose="02020603050405020304" pitchFamily="18" charset="0"/>
              </a:rPr>
              <a:t> Success depends on personal connections, not merit or efficiency.</a:t>
            </a:r>
          </a:p>
          <a:p>
            <a:pPr lvl="1"/>
            <a:r>
              <a:rPr lang="en-US" sz="1700" b="1" dirty="0">
                <a:latin typeface="Times New Roman" panose="02020603050405020304" pitchFamily="18" charset="0"/>
                <a:cs typeface="Times New Roman" panose="02020603050405020304" pitchFamily="18" charset="0"/>
              </a:rPr>
              <a:t>No Centralized Information:</a:t>
            </a:r>
            <a:r>
              <a:rPr lang="en-US" sz="1700" dirty="0">
                <a:latin typeface="Times New Roman" panose="02020603050405020304" pitchFamily="18" charset="0"/>
                <a:cs typeface="Times New Roman" panose="02020603050405020304" pitchFamily="18" charset="0"/>
              </a:rPr>
              <a:t> Pricing and demand, </a:t>
            </a:r>
          </a:p>
          <a:p>
            <a:pPr algn="just">
              <a:lnSpc>
                <a:spcPct val="150000"/>
              </a:lnSpc>
              <a:buFont typeface="Wingdings" panose="05000000000000000000" pitchFamily="2" charset="2"/>
              <a:buChar char="Ø"/>
            </a:pP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33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75DAA-2721-817F-3919-CE9C220A0FAB}"/>
              </a:ext>
            </a:extLst>
          </p:cNvPr>
          <p:cNvSpPr>
            <a:spLocks noGrp="1"/>
          </p:cNvSpPr>
          <p:nvPr>
            <p:ph type="title"/>
          </p:nvPr>
        </p:nvSpPr>
        <p:spPr>
          <a:xfrm>
            <a:off x="1313411" y="-40733"/>
            <a:ext cx="10241280" cy="1234440"/>
          </a:xfrm>
        </p:spPr>
        <p:txBody>
          <a:bodyPr/>
          <a:lstStyle/>
          <a:p>
            <a:pPr algn="ctr"/>
            <a:r>
              <a:rPr lang="en-IN" u="sng" dirty="0">
                <a:latin typeface="Times New Roman" panose="02020603050405020304" pitchFamily="18" charset="0"/>
                <a:cs typeface="Times New Roman" panose="02020603050405020304" pitchFamily="18" charset="0"/>
              </a:rPr>
              <a:t>DISADVANTAGES</a:t>
            </a:r>
            <a:endParaRPr lang="en-US"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88CC58-ADED-0AEA-539E-C58CA31822FF}"/>
              </a:ext>
            </a:extLst>
          </p:cNvPr>
          <p:cNvSpPr>
            <a:spLocks noGrp="1"/>
          </p:cNvSpPr>
          <p:nvPr>
            <p:ph idx="1"/>
          </p:nvPr>
        </p:nvSpPr>
        <p:spPr>
          <a:xfrm>
            <a:off x="975360" y="1704941"/>
            <a:ext cx="10241280" cy="3959352"/>
          </a:xfrm>
        </p:spPr>
        <p:txBody>
          <a:bodyPr>
            <a:noAutofit/>
          </a:bodyPr>
          <a:lstStyle/>
          <a:p>
            <a:r>
              <a:rPr lang="en-US" sz="1700" b="1" dirty="0">
                <a:latin typeface="Times New Roman" panose="02020603050405020304" pitchFamily="18" charset="0"/>
                <a:cs typeface="Times New Roman" panose="02020603050405020304" pitchFamily="18" charset="0"/>
              </a:rPr>
              <a:t>For Farmers:</a:t>
            </a:r>
            <a:endParaRPr lang="en-US" sz="1700" dirty="0">
              <a:latin typeface="Times New Roman" panose="02020603050405020304" pitchFamily="18" charset="0"/>
              <a:cs typeface="Times New Roman" panose="02020603050405020304" pitchFamily="18" charset="0"/>
            </a:endParaRPr>
          </a:p>
          <a:p>
            <a:pPr lvl="1"/>
            <a:r>
              <a:rPr lang="en-US" sz="1700" b="1" dirty="0">
                <a:latin typeface="Times New Roman" panose="02020603050405020304" pitchFamily="18" charset="0"/>
                <a:cs typeface="Times New Roman" panose="02020603050405020304" pitchFamily="18" charset="0"/>
              </a:rPr>
              <a:t>Price Exploitation:</a:t>
            </a:r>
            <a:r>
              <a:rPr lang="en-US" sz="1700" dirty="0">
                <a:latin typeface="Times New Roman" panose="02020603050405020304" pitchFamily="18" charset="0"/>
                <a:cs typeface="Times New Roman" panose="02020603050405020304" pitchFamily="18" charset="0"/>
              </a:rPr>
              <a:t> Forced to accept low, non-negotiable prices from powerful middlemen.</a:t>
            </a:r>
          </a:p>
          <a:p>
            <a:pPr lvl="1"/>
            <a:r>
              <a:rPr lang="en-US" sz="1700" b="1" dirty="0">
                <a:latin typeface="Times New Roman" panose="02020603050405020304" pitchFamily="18" charset="0"/>
                <a:cs typeface="Times New Roman" panose="02020603050405020304" pitchFamily="18" charset="0"/>
              </a:rPr>
              <a:t>Limited Opportunity:</a:t>
            </a:r>
            <a:r>
              <a:rPr lang="en-US" sz="1700" dirty="0">
                <a:latin typeface="Times New Roman" panose="02020603050405020304" pitchFamily="18" charset="0"/>
                <a:cs typeface="Times New Roman" panose="02020603050405020304" pitchFamily="18" charset="0"/>
              </a:rPr>
              <a:t> Trapped in a cycle of dependency with limited options for growth.</a:t>
            </a:r>
          </a:p>
          <a:p>
            <a:pPr lvl="1"/>
            <a:r>
              <a:rPr lang="en-US" sz="1700" b="1" dirty="0">
                <a:latin typeface="Times New Roman" panose="02020603050405020304" pitchFamily="18" charset="0"/>
                <a:cs typeface="Times New Roman" panose="02020603050405020304" pitchFamily="18" charset="0"/>
              </a:rPr>
              <a:t>High Financial Risk:</a:t>
            </a:r>
            <a:r>
              <a:rPr lang="en-US" sz="1700" dirty="0">
                <a:latin typeface="Times New Roman" panose="02020603050405020304" pitchFamily="18" charset="0"/>
                <a:cs typeface="Times New Roman" panose="02020603050405020304" pitchFamily="18" charset="0"/>
              </a:rPr>
              <a:t> No guarantee of a buyer or fair payment after a full season of labor.</a:t>
            </a:r>
          </a:p>
          <a:p>
            <a:pPr marL="0" indent="0">
              <a:buNone/>
            </a:pPr>
            <a:endParaRPr lang="en-US" sz="1700" dirty="0">
              <a:latin typeface="Times New Roman" panose="02020603050405020304" pitchFamily="18" charset="0"/>
              <a:cs typeface="Times New Roman" panose="02020603050405020304" pitchFamily="18" charset="0"/>
            </a:endParaRPr>
          </a:p>
          <a:p>
            <a:r>
              <a:rPr lang="en-US" sz="1700" b="1" dirty="0">
                <a:latin typeface="Times New Roman" panose="02020603050405020304" pitchFamily="18" charset="0"/>
                <a:cs typeface="Times New Roman" panose="02020603050405020304" pitchFamily="18" charset="0"/>
              </a:rPr>
              <a:t>For Wholesalers &amp; Retailers:</a:t>
            </a:r>
            <a:endParaRPr lang="en-US" sz="1700" dirty="0">
              <a:latin typeface="Times New Roman" panose="02020603050405020304" pitchFamily="18" charset="0"/>
              <a:cs typeface="Times New Roman" panose="02020603050405020304" pitchFamily="18" charset="0"/>
            </a:endParaRPr>
          </a:p>
          <a:p>
            <a:pPr lvl="1"/>
            <a:r>
              <a:rPr lang="en-US" sz="1700" b="1" dirty="0">
                <a:latin typeface="Times New Roman" panose="02020603050405020304" pitchFamily="18" charset="0"/>
                <a:cs typeface="Times New Roman" panose="02020603050405020304" pitchFamily="18" charset="0"/>
              </a:rPr>
              <a:t>No Traceability:</a:t>
            </a:r>
            <a:r>
              <a:rPr lang="en-US" sz="1700" dirty="0">
                <a:latin typeface="Times New Roman" panose="02020603050405020304" pitchFamily="18" charset="0"/>
                <a:cs typeface="Times New Roman" panose="02020603050405020304" pitchFamily="18" charset="0"/>
              </a:rPr>
              <a:t> The origin, quality, and farming practices of the produce are a complete mystery.</a:t>
            </a:r>
          </a:p>
          <a:p>
            <a:pPr lvl="1"/>
            <a:r>
              <a:rPr lang="en-US" sz="1700" b="1" dirty="0">
                <a:latin typeface="Times New Roman" panose="02020603050405020304" pitchFamily="18" charset="0"/>
                <a:cs typeface="Times New Roman" panose="02020603050405020304" pitchFamily="18" charset="0"/>
              </a:rPr>
              <a:t>Inflated Costs:</a:t>
            </a:r>
            <a:r>
              <a:rPr lang="en-US" sz="1700" dirty="0">
                <a:latin typeface="Times New Roman" panose="02020603050405020304" pitchFamily="18" charset="0"/>
                <a:cs typeface="Times New Roman" panose="02020603050405020304" pitchFamily="18" charset="0"/>
              </a:rPr>
              <a:t> Multiple layers of middlemen drive up costs without adding value.</a:t>
            </a:r>
          </a:p>
          <a:p>
            <a:pPr lvl="1"/>
            <a:r>
              <a:rPr lang="en-US" sz="1700" b="1" dirty="0">
                <a:latin typeface="Times New Roman" panose="02020603050405020304" pitchFamily="18" charset="0"/>
                <a:cs typeface="Times New Roman" panose="02020603050405020304" pitchFamily="18" charset="0"/>
              </a:rPr>
              <a:t>Unreliable Supply Chain:</a:t>
            </a:r>
            <a:r>
              <a:rPr lang="en-US" sz="1700" dirty="0">
                <a:latin typeface="Times New Roman" panose="02020603050405020304" pitchFamily="18" charset="0"/>
                <a:cs typeface="Times New Roman" panose="02020603050405020304" pitchFamily="18" charset="0"/>
              </a:rPr>
              <a:t> Sourcing consistent quality and quantity is a constant challenge.</a:t>
            </a:r>
          </a:p>
          <a:p>
            <a:pPr algn="just">
              <a:buFont typeface="Wingdings" panose="05000000000000000000" pitchFamily="2" charset="2"/>
              <a:buChar char="Ø"/>
            </a:pPr>
            <a:endParaRPr lang="en-US" sz="1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7760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B413E-20D0-ED99-425B-136C9634D406}"/>
              </a:ext>
            </a:extLst>
          </p:cNvPr>
          <p:cNvSpPr>
            <a:spLocks noGrp="1"/>
          </p:cNvSpPr>
          <p:nvPr>
            <p:ph type="title"/>
          </p:nvPr>
        </p:nvSpPr>
        <p:spPr>
          <a:xfrm>
            <a:off x="1371600" y="-188283"/>
            <a:ext cx="10241280" cy="1234440"/>
          </a:xfrm>
        </p:spPr>
        <p:txBody>
          <a:bodyPr/>
          <a:lstStyle/>
          <a:p>
            <a:pPr algn="ctr"/>
            <a:r>
              <a:rPr lang="en-IN" u="sng" dirty="0">
                <a:latin typeface="Times New Roman" panose="02020603050405020304" pitchFamily="18" charset="0"/>
                <a:cs typeface="Times New Roman" panose="02020603050405020304" pitchFamily="18" charset="0"/>
              </a:rPr>
              <a:t>PROPOSED SYSTEM</a:t>
            </a:r>
            <a:endParaRPr lang="en-US"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6C8D2C9-9C70-93F7-3D03-8B2CD74A548A}"/>
              </a:ext>
            </a:extLst>
          </p:cNvPr>
          <p:cNvSpPr>
            <a:spLocks noGrp="1"/>
          </p:cNvSpPr>
          <p:nvPr>
            <p:ph idx="1"/>
          </p:nvPr>
        </p:nvSpPr>
        <p:spPr>
          <a:xfrm>
            <a:off x="1055716" y="1449324"/>
            <a:ext cx="10241280" cy="3959352"/>
          </a:xfrm>
        </p:spPr>
        <p:txBody>
          <a:bodyPr>
            <a:normAutofit/>
          </a:bodyPr>
          <a:lstStyle/>
          <a:p>
            <a:r>
              <a:rPr lang="en-US" sz="1900" b="1" dirty="0">
                <a:latin typeface="Times New Roman" panose="02020603050405020304" pitchFamily="18" charset="0"/>
                <a:cs typeface="Times New Roman" panose="02020603050405020304" pitchFamily="18" charset="0"/>
              </a:rPr>
              <a:t>Core Functionality:</a:t>
            </a:r>
            <a:endParaRPr lang="en-US" sz="1900" dirty="0">
              <a:latin typeface="Times New Roman" panose="02020603050405020304" pitchFamily="18" charset="0"/>
              <a:cs typeface="Times New Roman" panose="02020603050405020304" pitchFamily="18" charset="0"/>
            </a:endParaRPr>
          </a:p>
          <a:p>
            <a:pPr lvl="1"/>
            <a:r>
              <a:rPr lang="en-US" sz="1900" b="1" dirty="0">
                <a:latin typeface="Times New Roman" panose="02020603050405020304" pitchFamily="18" charset="0"/>
                <a:cs typeface="Times New Roman" panose="02020603050405020304" pitchFamily="18" charset="0"/>
              </a:rPr>
              <a:t>Produce Marketplace:</a:t>
            </a:r>
            <a:r>
              <a:rPr lang="en-US" sz="1900" dirty="0">
                <a:latin typeface="Times New Roman" panose="02020603050405020304" pitchFamily="18" charset="0"/>
                <a:cs typeface="Times New Roman" panose="02020603050405020304" pitchFamily="18" charset="0"/>
              </a:rPr>
              <a:t> A wholesale market where farmers list their upcoming harvests, and buyers can browse, negotiate, and place bulk orders directly.</a:t>
            </a:r>
          </a:p>
          <a:p>
            <a:r>
              <a:rPr lang="en-US" sz="1900" b="1" dirty="0">
                <a:latin typeface="Times New Roman" panose="02020603050405020304" pitchFamily="18" charset="0"/>
                <a:cs typeface="Times New Roman" panose="02020603050405020304" pitchFamily="18" charset="0"/>
              </a:rPr>
              <a:t>Key Features That Power the System:</a:t>
            </a:r>
            <a:endParaRPr lang="en-US" sz="1900" dirty="0">
              <a:latin typeface="Times New Roman" panose="02020603050405020304" pitchFamily="18" charset="0"/>
              <a:cs typeface="Times New Roman" panose="02020603050405020304" pitchFamily="18" charset="0"/>
            </a:endParaRPr>
          </a:p>
          <a:p>
            <a:pPr lvl="1"/>
            <a:r>
              <a:rPr lang="en-US" sz="1900" b="1" dirty="0">
                <a:latin typeface="Times New Roman" panose="02020603050405020304" pitchFamily="18" charset="0"/>
                <a:cs typeface="Times New Roman" panose="02020603050405020304" pitchFamily="18" charset="0"/>
              </a:rPr>
              <a:t>Verified Profiles</a:t>
            </a:r>
            <a:r>
              <a:rPr lang="en-US" sz="1900" dirty="0">
                <a:latin typeface="Times New Roman" panose="02020603050405020304" pitchFamily="18" charset="0"/>
                <a:cs typeface="Times New Roman" panose="02020603050405020304" pitchFamily="18" charset="0"/>
              </a:rPr>
              <a:t> for all users to build a foundation of trust.</a:t>
            </a:r>
          </a:p>
          <a:p>
            <a:pPr lvl="1"/>
            <a:r>
              <a:rPr lang="en-US" sz="1900" b="1" dirty="0">
                <a:latin typeface="Times New Roman" panose="02020603050405020304" pitchFamily="18" charset="0"/>
                <a:cs typeface="Times New Roman" panose="02020603050405020304" pitchFamily="18" charset="0"/>
              </a:rPr>
              <a:t>Secure Payment Gateway with Escrow</a:t>
            </a:r>
            <a:r>
              <a:rPr lang="en-US" sz="1900" dirty="0">
                <a:latin typeface="Times New Roman" panose="02020603050405020304" pitchFamily="18" charset="0"/>
                <a:cs typeface="Times New Roman" panose="02020603050405020304" pitchFamily="18" charset="0"/>
              </a:rPr>
              <a:t> to protect both buyers and sellers.</a:t>
            </a:r>
          </a:p>
          <a:p>
            <a:pPr lvl="1"/>
            <a:r>
              <a:rPr lang="en-US" sz="1900" b="1" dirty="0">
                <a:latin typeface="Times New Roman" panose="02020603050405020304" pitchFamily="18" charset="0"/>
                <a:cs typeface="Times New Roman" panose="02020603050405020304" pitchFamily="18" charset="0"/>
              </a:rPr>
              <a:t>Rating &amp; Review System</a:t>
            </a:r>
            <a:r>
              <a:rPr lang="en-US" sz="1900" dirty="0">
                <a:latin typeface="Times New Roman" panose="02020603050405020304" pitchFamily="18" charset="0"/>
                <a:cs typeface="Times New Roman" panose="02020603050405020304" pitchFamily="18" charset="0"/>
              </a:rPr>
              <a:t> to reward quality and reliability.</a:t>
            </a:r>
          </a:p>
        </p:txBody>
      </p:sp>
    </p:spTree>
    <p:extLst>
      <p:ext uri="{BB962C8B-B14F-4D97-AF65-F5344CB8AC3E}">
        <p14:creationId xmlns:p14="http://schemas.microsoft.com/office/powerpoint/2010/main" val="2242884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990D2-29AA-E1BE-C8CA-E36891CEE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462D3-1E07-0C49-2B09-80280DC9C8CC}"/>
              </a:ext>
            </a:extLst>
          </p:cNvPr>
          <p:cNvSpPr>
            <a:spLocks noGrp="1"/>
          </p:cNvSpPr>
          <p:nvPr>
            <p:ph type="title"/>
          </p:nvPr>
        </p:nvSpPr>
        <p:spPr>
          <a:xfrm>
            <a:off x="975360" y="-246323"/>
            <a:ext cx="10241280" cy="1234440"/>
          </a:xfrm>
        </p:spPr>
        <p:txBody>
          <a:bodyPr/>
          <a:lstStyle/>
          <a:p>
            <a:pPr algn="ctr"/>
            <a:r>
              <a:rPr lang="en-IN" u="sng" dirty="0">
                <a:latin typeface="Times New Roman" panose="02020603050405020304" pitchFamily="18" charset="0"/>
                <a:cs typeface="Times New Roman" panose="02020603050405020304" pitchFamily="18" charset="0"/>
              </a:rPr>
              <a:t>ADVANTAGES</a:t>
            </a:r>
            <a:endParaRPr lang="en-US"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516875-4B7E-46E3-9566-DB1802A7FBB5}"/>
              </a:ext>
            </a:extLst>
          </p:cNvPr>
          <p:cNvSpPr>
            <a:spLocks noGrp="1"/>
          </p:cNvSpPr>
          <p:nvPr>
            <p:ph idx="1"/>
          </p:nvPr>
        </p:nvSpPr>
        <p:spPr>
          <a:xfrm>
            <a:off x="975360" y="1449324"/>
            <a:ext cx="10241280" cy="3959352"/>
          </a:xfrm>
        </p:spPr>
        <p:txBody>
          <a:bodyPr>
            <a:normAutofit fontScale="77500" lnSpcReduction="20000"/>
          </a:bodyPr>
          <a:lstStyle/>
          <a:p>
            <a:r>
              <a:rPr lang="en-US" sz="2500" b="1" dirty="0">
                <a:latin typeface="Times New Roman" panose="02020603050405020304" pitchFamily="18" charset="0"/>
                <a:cs typeface="Times New Roman" panose="02020603050405020304" pitchFamily="18" charset="0"/>
              </a:rPr>
              <a:t>For Farmers (Empowerment &amp; Profit):</a:t>
            </a:r>
            <a:endParaRPr lang="en-US" sz="2500" dirty="0">
              <a:latin typeface="Times New Roman" panose="02020603050405020304" pitchFamily="18" charset="0"/>
              <a:cs typeface="Times New Roman" panose="02020603050405020304" pitchFamily="18" charset="0"/>
            </a:endParaRPr>
          </a:p>
          <a:p>
            <a:pPr lvl="1"/>
            <a:r>
              <a:rPr lang="en-US" sz="2500" b="1" dirty="0">
                <a:latin typeface="Times New Roman" panose="02020603050405020304" pitchFamily="18" charset="0"/>
                <a:cs typeface="Times New Roman" panose="02020603050405020304" pitchFamily="18" charset="0"/>
              </a:rPr>
              <a:t>Direct Market Access:</a:t>
            </a:r>
            <a:r>
              <a:rPr lang="en-US" sz="2500" dirty="0">
                <a:latin typeface="Times New Roman" panose="02020603050405020304" pitchFamily="18" charset="0"/>
                <a:cs typeface="Times New Roman" panose="02020603050405020304" pitchFamily="18" charset="0"/>
              </a:rPr>
              <a:t> Sell to a nationwide network of buyers and command fair market prices.</a:t>
            </a:r>
          </a:p>
          <a:p>
            <a:pPr lvl="1"/>
            <a:r>
              <a:rPr lang="en-US" sz="2500" b="1" dirty="0">
                <a:latin typeface="Times New Roman" panose="02020603050405020304" pitchFamily="18" charset="0"/>
                <a:cs typeface="Times New Roman" panose="02020603050405020304" pitchFamily="18" charset="0"/>
              </a:rPr>
              <a:t>Maximum Profitability:</a:t>
            </a:r>
            <a:r>
              <a:rPr lang="en-US" sz="2500" dirty="0">
                <a:latin typeface="Times New Roman" panose="02020603050405020304" pitchFamily="18" charset="0"/>
                <a:cs typeface="Times New Roman" panose="02020603050405020304" pitchFamily="18" charset="0"/>
              </a:rPr>
              <a:t> Eliminate intermediary fees and dramatically increase your income.</a:t>
            </a:r>
          </a:p>
          <a:p>
            <a:pPr lvl="1"/>
            <a:r>
              <a:rPr lang="en-US" sz="2500" b="1" dirty="0">
                <a:latin typeface="Times New Roman" panose="02020603050405020304" pitchFamily="18" charset="0"/>
                <a:cs typeface="Times New Roman" panose="02020603050405020304" pitchFamily="18" charset="0"/>
              </a:rPr>
              <a:t>Build Your Reputation:</a:t>
            </a:r>
            <a:r>
              <a:rPr lang="en-US" sz="2500" dirty="0">
                <a:latin typeface="Times New Roman" panose="02020603050405020304" pitchFamily="18" charset="0"/>
                <a:cs typeface="Times New Roman" panose="02020603050405020304" pitchFamily="18" charset="0"/>
              </a:rPr>
              <a:t> A strong rating becomes your most valuable asset.</a:t>
            </a:r>
          </a:p>
          <a:p>
            <a:pPr marL="0" indent="0">
              <a:buNone/>
            </a:pPr>
            <a:endParaRPr lang="en-US" sz="2500" dirty="0">
              <a:latin typeface="Times New Roman" panose="02020603050405020304" pitchFamily="18" charset="0"/>
              <a:cs typeface="Times New Roman" panose="02020603050405020304" pitchFamily="18" charset="0"/>
            </a:endParaRPr>
          </a:p>
          <a:p>
            <a:r>
              <a:rPr lang="en-US" sz="2500" b="1" dirty="0">
                <a:latin typeface="Times New Roman" panose="02020603050405020304" pitchFamily="18" charset="0"/>
                <a:cs typeface="Times New Roman" panose="02020603050405020304" pitchFamily="18" charset="0"/>
              </a:rPr>
              <a:t>For Wholesalers (Transparency &amp; Efficiency):</a:t>
            </a:r>
            <a:endParaRPr lang="en-US" sz="2500" dirty="0">
              <a:latin typeface="Times New Roman" panose="02020603050405020304" pitchFamily="18" charset="0"/>
              <a:cs typeface="Times New Roman" panose="02020603050405020304" pitchFamily="18" charset="0"/>
            </a:endParaRPr>
          </a:p>
          <a:p>
            <a:pPr lvl="1"/>
            <a:r>
              <a:rPr lang="en-US" sz="2500" b="1" dirty="0">
                <a:latin typeface="Times New Roman" panose="02020603050405020304" pitchFamily="18" charset="0"/>
                <a:cs typeface="Times New Roman" panose="02020603050405020304" pitchFamily="18" charset="0"/>
              </a:rPr>
              <a:t>Complete Traceability:</a:t>
            </a:r>
            <a:r>
              <a:rPr lang="en-US" sz="2500" dirty="0">
                <a:latin typeface="Times New Roman" panose="02020603050405020304" pitchFamily="18" charset="0"/>
                <a:cs typeface="Times New Roman" panose="02020603050405020304" pitchFamily="18" charset="0"/>
              </a:rPr>
              <a:t> Know the exact farm, farmer, and practices behind your produce.</a:t>
            </a:r>
          </a:p>
          <a:p>
            <a:pPr lvl="1"/>
            <a:r>
              <a:rPr lang="en-US" sz="2500" b="1" dirty="0">
                <a:latin typeface="Times New Roman" panose="02020603050405020304" pitchFamily="18" charset="0"/>
                <a:cs typeface="Times New Roman" panose="02020603050405020304" pitchFamily="18" charset="0"/>
              </a:rPr>
              <a:t>Reliable Sourcing:</a:t>
            </a:r>
            <a:r>
              <a:rPr lang="en-US" sz="2500" dirty="0">
                <a:latin typeface="Times New Roman" panose="02020603050405020304" pitchFamily="18" charset="0"/>
                <a:cs typeface="Times New Roman" panose="02020603050405020304" pitchFamily="18" charset="0"/>
              </a:rPr>
              <a:t> Plan future inventory by viewing upcoming harvests and farmer ratings.</a:t>
            </a:r>
          </a:p>
          <a:p>
            <a:pPr lvl="1"/>
            <a:r>
              <a:rPr lang="en-US" sz="2500" b="1" dirty="0">
                <a:latin typeface="Times New Roman" panose="02020603050405020304" pitchFamily="18" charset="0"/>
                <a:cs typeface="Times New Roman" panose="02020603050405020304" pitchFamily="18" charset="0"/>
              </a:rPr>
              <a:t>Cost Savings:</a:t>
            </a:r>
            <a:r>
              <a:rPr lang="en-US" sz="2500" dirty="0">
                <a:latin typeface="Times New Roman" panose="02020603050405020304" pitchFamily="18" charset="0"/>
                <a:cs typeface="Times New Roman" panose="02020603050405020304" pitchFamily="18" charset="0"/>
              </a:rPr>
              <a:t> Purchase directly from the source, cutting out layers of unnecessary markups.</a:t>
            </a:r>
          </a:p>
          <a:p>
            <a:pPr algn="just">
              <a:buFont typeface="Wingdings" panose="05000000000000000000" pitchFamily="2" charset="2"/>
              <a:buChar char="Ø"/>
            </a:pPr>
            <a:endParaRPr lang="en-US" dirty="0"/>
          </a:p>
        </p:txBody>
      </p:sp>
    </p:spTree>
    <p:extLst>
      <p:ext uri="{BB962C8B-B14F-4D97-AF65-F5344CB8AC3E}">
        <p14:creationId xmlns:p14="http://schemas.microsoft.com/office/powerpoint/2010/main" val="3530295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E6813-D34C-9082-517F-7D76C5C5D0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C6C00-80A3-1A0B-366B-00ADDF256FCB}"/>
              </a:ext>
            </a:extLst>
          </p:cNvPr>
          <p:cNvSpPr>
            <a:spLocks noGrp="1"/>
          </p:cNvSpPr>
          <p:nvPr>
            <p:ph type="title"/>
          </p:nvPr>
        </p:nvSpPr>
        <p:spPr>
          <a:xfrm>
            <a:off x="975360" y="-246323"/>
            <a:ext cx="10241280" cy="1234440"/>
          </a:xfrm>
        </p:spPr>
        <p:txBody>
          <a:bodyPr/>
          <a:lstStyle/>
          <a:p>
            <a:pPr algn="ctr"/>
            <a:endParaRPr lang="en-US" u="sng"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09C4909-169D-C059-A95A-33D57B2963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21092" y="-1"/>
            <a:ext cx="9410701" cy="6273801"/>
          </a:xfrm>
        </p:spPr>
      </p:pic>
    </p:spTree>
    <p:extLst>
      <p:ext uri="{BB962C8B-B14F-4D97-AF65-F5344CB8AC3E}">
        <p14:creationId xmlns:p14="http://schemas.microsoft.com/office/powerpoint/2010/main" val="3354965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9E564-3E09-30F9-B24B-48DD9F78DE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9C508-6965-83A3-22EC-9795798EC0E4}"/>
              </a:ext>
            </a:extLst>
          </p:cNvPr>
          <p:cNvSpPr>
            <a:spLocks noGrp="1"/>
          </p:cNvSpPr>
          <p:nvPr>
            <p:ph type="title"/>
          </p:nvPr>
        </p:nvSpPr>
        <p:spPr>
          <a:xfrm>
            <a:off x="975360" y="-246323"/>
            <a:ext cx="10241280" cy="1234440"/>
          </a:xfrm>
        </p:spPr>
        <p:txBody>
          <a:bodyPr/>
          <a:lstStyle/>
          <a:p>
            <a:pPr algn="ctr"/>
            <a:r>
              <a:rPr lang="en-US" u="sng" dirty="0">
                <a:latin typeface="Times New Roman" panose="02020603050405020304" pitchFamily="18" charset="0"/>
                <a:cs typeface="Times New Roman" panose="02020603050405020304" pitchFamily="18" charset="0"/>
              </a:rPr>
              <a:t>use case diagram</a:t>
            </a:r>
          </a:p>
        </p:txBody>
      </p:sp>
      <p:sp>
        <p:nvSpPr>
          <p:cNvPr id="4" name="Content Placeholder 3">
            <a:extLst>
              <a:ext uri="{FF2B5EF4-FFF2-40B4-BE49-F238E27FC236}">
                <a16:creationId xmlns:a16="http://schemas.microsoft.com/office/drawing/2014/main" id="{B04868AB-904E-89D4-1650-4A3ED7092197}"/>
              </a:ext>
            </a:extLst>
          </p:cNvPr>
          <p:cNvSpPr>
            <a:spLocks noGrp="1"/>
          </p:cNvSpPr>
          <p:nvPr>
            <p:ph idx="1"/>
          </p:nvPr>
        </p:nvSpPr>
        <p:spPr/>
        <p:txBody>
          <a:bodyPr/>
          <a:lstStyle/>
          <a:p>
            <a:pPr marL="0" indent="0">
              <a:buNone/>
            </a:pPr>
            <a:r>
              <a:rPr lang="en-IN" dirty="0"/>
              <a:t>‘</a:t>
            </a:r>
          </a:p>
        </p:txBody>
      </p:sp>
      <p:pic>
        <p:nvPicPr>
          <p:cNvPr id="7" name="Picture 6">
            <a:extLst>
              <a:ext uri="{FF2B5EF4-FFF2-40B4-BE49-F238E27FC236}">
                <a16:creationId xmlns:a16="http://schemas.microsoft.com/office/drawing/2014/main" id="{406D846B-F719-2355-7BB9-3C09511AFA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9742" y="988117"/>
            <a:ext cx="10325109" cy="5302083"/>
          </a:xfrm>
          <a:prstGeom prst="rect">
            <a:avLst/>
          </a:prstGeom>
        </p:spPr>
      </p:pic>
    </p:spTree>
    <p:extLst>
      <p:ext uri="{BB962C8B-B14F-4D97-AF65-F5344CB8AC3E}">
        <p14:creationId xmlns:p14="http://schemas.microsoft.com/office/powerpoint/2010/main" val="3892151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6F13B-3586-8657-42C9-14243CBE6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FC848-C55E-8680-4A1B-A950C4EA239D}"/>
              </a:ext>
            </a:extLst>
          </p:cNvPr>
          <p:cNvSpPr>
            <a:spLocks noGrp="1"/>
          </p:cNvSpPr>
          <p:nvPr>
            <p:ph type="title"/>
          </p:nvPr>
        </p:nvSpPr>
        <p:spPr>
          <a:xfrm>
            <a:off x="-1758008" y="2112264"/>
            <a:ext cx="10241280" cy="1234440"/>
          </a:xfrm>
        </p:spPr>
        <p:txBody>
          <a:bodyPr/>
          <a:lstStyle/>
          <a:p>
            <a:pPr algn="ctr"/>
            <a:r>
              <a:rPr lang="en-US" u="sng" dirty="0">
                <a:latin typeface="Times New Roman" panose="02020603050405020304" pitchFamily="18" charset="0"/>
                <a:cs typeface="Times New Roman" panose="02020603050405020304" pitchFamily="18" charset="0"/>
              </a:rPr>
              <a:t>Activity diagram</a:t>
            </a:r>
          </a:p>
        </p:txBody>
      </p:sp>
      <p:sp>
        <p:nvSpPr>
          <p:cNvPr id="4" name="Content Placeholder 3">
            <a:extLst>
              <a:ext uri="{FF2B5EF4-FFF2-40B4-BE49-F238E27FC236}">
                <a16:creationId xmlns:a16="http://schemas.microsoft.com/office/drawing/2014/main" id="{C3AB75DD-9FC9-12F6-B35A-E34D1A3A92BC}"/>
              </a:ext>
            </a:extLst>
          </p:cNvPr>
          <p:cNvSpPr>
            <a:spLocks noGrp="1"/>
          </p:cNvSpPr>
          <p:nvPr>
            <p:ph idx="1"/>
          </p:nvPr>
        </p:nvSpPr>
        <p:spPr/>
        <p:txBody>
          <a:bodyPr/>
          <a:lstStyle/>
          <a:p>
            <a:pPr marL="0" indent="0">
              <a:buNone/>
            </a:pPr>
            <a:r>
              <a:rPr lang="en-IN" dirty="0"/>
              <a:t>‘</a:t>
            </a:r>
          </a:p>
        </p:txBody>
      </p:sp>
      <p:pic>
        <p:nvPicPr>
          <p:cNvPr id="5" name="Picture 4">
            <a:extLst>
              <a:ext uri="{FF2B5EF4-FFF2-40B4-BE49-F238E27FC236}">
                <a16:creationId xmlns:a16="http://schemas.microsoft.com/office/drawing/2014/main" id="{03D634B9-7A41-B1D0-53E1-322F6AF972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02605" y="0"/>
            <a:ext cx="3446482" cy="6858000"/>
          </a:xfrm>
          <a:prstGeom prst="rect">
            <a:avLst/>
          </a:prstGeom>
        </p:spPr>
      </p:pic>
    </p:spTree>
    <p:extLst>
      <p:ext uri="{BB962C8B-B14F-4D97-AF65-F5344CB8AC3E}">
        <p14:creationId xmlns:p14="http://schemas.microsoft.com/office/powerpoint/2010/main" val="2637179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70234-F7B0-4E14-71BE-D39E6C0254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1A821-5405-5AB2-E0F3-3F303AE446D9}"/>
              </a:ext>
            </a:extLst>
          </p:cNvPr>
          <p:cNvSpPr>
            <a:spLocks noGrp="1"/>
          </p:cNvSpPr>
          <p:nvPr>
            <p:ph type="title"/>
          </p:nvPr>
        </p:nvSpPr>
        <p:spPr>
          <a:xfrm>
            <a:off x="-1758008" y="2112264"/>
            <a:ext cx="10241280" cy="1234440"/>
          </a:xfrm>
        </p:spPr>
        <p:txBody>
          <a:bodyPr/>
          <a:lstStyle/>
          <a:p>
            <a:pPr algn="ctr"/>
            <a:r>
              <a:rPr lang="en-US" u="sng" dirty="0">
                <a:latin typeface="Times New Roman" panose="02020603050405020304" pitchFamily="18" charset="0"/>
                <a:cs typeface="Times New Roman" panose="02020603050405020304" pitchFamily="18" charset="0"/>
              </a:rPr>
              <a:t>class diagram</a:t>
            </a:r>
          </a:p>
        </p:txBody>
      </p:sp>
      <p:sp>
        <p:nvSpPr>
          <p:cNvPr id="4" name="Content Placeholder 3">
            <a:extLst>
              <a:ext uri="{FF2B5EF4-FFF2-40B4-BE49-F238E27FC236}">
                <a16:creationId xmlns:a16="http://schemas.microsoft.com/office/drawing/2014/main" id="{754686F2-13C0-45F9-DF69-2B65FA13E066}"/>
              </a:ext>
            </a:extLst>
          </p:cNvPr>
          <p:cNvSpPr>
            <a:spLocks noGrp="1"/>
          </p:cNvSpPr>
          <p:nvPr>
            <p:ph idx="1"/>
          </p:nvPr>
        </p:nvSpPr>
        <p:spPr/>
        <p:txBody>
          <a:bodyPr/>
          <a:lstStyle/>
          <a:p>
            <a:pPr marL="0" indent="0">
              <a:buNone/>
            </a:pPr>
            <a:r>
              <a:rPr lang="en-IN" dirty="0"/>
              <a:t>‘</a:t>
            </a:r>
          </a:p>
        </p:txBody>
      </p:sp>
      <p:pic>
        <p:nvPicPr>
          <p:cNvPr id="6" name="Picture 5">
            <a:extLst>
              <a:ext uri="{FF2B5EF4-FFF2-40B4-BE49-F238E27FC236}">
                <a16:creationId xmlns:a16="http://schemas.microsoft.com/office/drawing/2014/main" id="{64F10D3E-891B-5CF5-6048-91AED5F02C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47092" y="0"/>
            <a:ext cx="2869117" cy="6858000"/>
          </a:xfrm>
          <a:prstGeom prst="rect">
            <a:avLst/>
          </a:prstGeom>
        </p:spPr>
      </p:pic>
    </p:spTree>
    <p:extLst>
      <p:ext uri="{BB962C8B-B14F-4D97-AF65-F5344CB8AC3E}">
        <p14:creationId xmlns:p14="http://schemas.microsoft.com/office/powerpoint/2010/main" val="3165534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45898-33B3-D273-3689-DAB1980632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91325-1B3A-8DC8-8368-8DBAEE7F229F}"/>
              </a:ext>
            </a:extLst>
          </p:cNvPr>
          <p:cNvSpPr>
            <a:spLocks noGrp="1"/>
          </p:cNvSpPr>
          <p:nvPr>
            <p:ph type="title"/>
          </p:nvPr>
        </p:nvSpPr>
        <p:spPr>
          <a:xfrm>
            <a:off x="-1758008" y="2112264"/>
            <a:ext cx="10241280" cy="1234440"/>
          </a:xfrm>
        </p:spPr>
        <p:txBody>
          <a:bodyPr/>
          <a:lstStyle/>
          <a:p>
            <a:pPr algn="ctr"/>
            <a:r>
              <a:rPr lang="en-US" u="sng" dirty="0">
                <a:latin typeface="Times New Roman" panose="02020603050405020304" pitchFamily="18" charset="0"/>
                <a:cs typeface="Times New Roman" panose="02020603050405020304" pitchFamily="18" charset="0"/>
              </a:rPr>
              <a:t>sequence diagram</a:t>
            </a:r>
          </a:p>
        </p:txBody>
      </p:sp>
      <p:sp>
        <p:nvSpPr>
          <p:cNvPr id="4" name="Content Placeholder 3">
            <a:extLst>
              <a:ext uri="{FF2B5EF4-FFF2-40B4-BE49-F238E27FC236}">
                <a16:creationId xmlns:a16="http://schemas.microsoft.com/office/drawing/2014/main" id="{EF2BE472-5045-CED2-9C56-CA4757F56FC9}"/>
              </a:ext>
            </a:extLst>
          </p:cNvPr>
          <p:cNvSpPr>
            <a:spLocks noGrp="1"/>
          </p:cNvSpPr>
          <p:nvPr>
            <p:ph idx="1"/>
          </p:nvPr>
        </p:nvSpPr>
        <p:spPr/>
        <p:txBody>
          <a:bodyPr/>
          <a:lstStyle/>
          <a:p>
            <a:pPr marL="0" indent="0">
              <a:buNone/>
            </a:pPr>
            <a:r>
              <a:rPr lang="en-IN" dirty="0"/>
              <a:t>‘</a:t>
            </a:r>
          </a:p>
        </p:txBody>
      </p:sp>
      <p:pic>
        <p:nvPicPr>
          <p:cNvPr id="5" name="Picture 4">
            <a:extLst>
              <a:ext uri="{FF2B5EF4-FFF2-40B4-BE49-F238E27FC236}">
                <a16:creationId xmlns:a16="http://schemas.microsoft.com/office/drawing/2014/main" id="{C3FB41D3-4C31-A5D5-8959-A6942C407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9219" y="0"/>
            <a:ext cx="4814835" cy="6858000"/>
          </a:xfrm>
          <a:prstGeom prst="rect">
            <a:avLst/>
          </a:prstGeom>
        </p:spPr>
      </p:pic>
    </p:spTree>
    <p:extLst>
      <p:ext uri="{BB962C8B-B14F-4D97-AF65-F5344CB8AC3E}">
        <p14:creationId xmlns:p14="http://schemas.microsoft.com/office/powerpoint/2010/main" val="3060458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CD2A5-0462-E549-9D3A-738402810D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F3D62-4E32-CBD1-C63A-B9952465688E}"/>
              </a:ext>
            </a:extLst>
          </p:cNvPr>
          <p:cNvSpPr>
            <a:spLocks noGrp="1"/>
          </p:cNvSpPr>
          <p:nvPr>
            <p:ph type="title"/>
          </p:nvPr>
        </p:nvSpPr>
        <p:spPr>
          <a:xfrm>
            <a:off x="-2878884" y="2811780"/>
            <a:ext cx="10241280" cy="1234440"/>
          </a:xfrm>
        </p:spPr>
        <p:txBody>
          <a:bodyPr>
            <a:normAutofit fontScale="90000"/>
          </a:bodyPr>
          <a:lstStyle/>
          <a:p>
            <a:pPr algn="ctr"/>
            <a:r>
              <a:rPr lang="en-US" u="sng" dirty="0">
                <a:latin typeface="Times New Roman" panose="02020603050405020304" pitchFamily="18" charset="0"/>
                <a:cs typeface="Times New Roman" panose="02020603050405020304" pitchFamily="18" charset="0"/>
              </a:rPr>
              <a:t>Deployment</a:t>
            </a:r>
            <a:br>
              <a:rPr lang="en-US" u="sng" dirty="0">
                <a:latin typeface="Times New Roman" panose="02020603050405020304" pitchFamily="18" charset="0"/>
                <a:cs typeface="Times New Roman" panose="02020603050405020304" pitchFamily="18" charset="0"/>
              </a:rPr>
            </a:br>
            <a:r>
              <a:rPr lang="en-US" u="sng" dirty="0">
                <a:latin typeface="Times New Roman" panose="02020603050405020304" pitchFamily="18" charset="0"/>
                <a:cs typeface="Times New Roman" panose="02020603050405020304" pitchFamily="18" charset="0"/>
              </a:rPr>
              <a:t> diagram</a:t>
            </a:r>
            <a:br>
              <a:rPr lang="en-US" u="sng" dirty="0">
                <a:latin typeface="Times New Roman" panose="02020603050405020304" pitchFamily="18" charset="0"/>
                <a:cs typeface="Times New Roman" panose="02020603050405020304" pitchFamily="18" charset="0"/>
              </a:rPr>
            </a:br>
            <a:endParaRPr lang="en-US" u="sng"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D939DEC-575A-CC9B-E2FD-FE72E1AF2A80}"/>
              </a:ext>
            </a:extLst>
          </p:cNvPr>
          <p:cNvSpPr>
            <a:spLocks noGrp="1"/>
          </p:cNvSpPr>
          <p:nvPr>
            <p:ph idx="1"/>
          </p:nvPr>
        </p:nvSpPr>
        <p:spPr/>
        <p:txBody>
          <a:bodyPr/>
          <a:lstStyle/>
          <a:p>
            <a:pPr marL="0" indent="0">
              <a:buNone/>
            </a:pPr>
            <a:r>
              <a:rPr lang="en-IN" dirty="0"/>
              <a:t>‘</a:t>
            </a:r>
          </a:p>
        </p:txBody>
      </p:sp>
      <p:pic>
        <p:nvPicPr>
          <p:cNvPr id="6" name="Picture 5">
            <a:extLst>
              <a:ext uri="{FF2B5EF4-FFF2-40B4-BE49-F238E27FC236}">
                <a16:creationId xmlns:a16="http://schemas.microsoft.com/office/drawing/2014/main" id="{41DE6425-6211-4A01-3016-248356059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6969" y="-32300"/>
            <a:ext cx="8147368" cy="6521589"/>
          </a:xfrm>
          <a:prstGeom prst="rect">
            <a:avLst/>
          </a:prstGeom>
        </p:spPr>
      </p:pic>
    </p:spTree>
    <p:extLst>
      <p:ext uri="{BB962C8B-B14F-4D97-AF65-F5344CB8AC3E}">
        <p14:creationId xmlns:p14="http://schemas.microsoft.com/office/powerpoint/2010/main" val="2640885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7C7F3-00D8-E964-5E48-5CC17DD25B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3E7AAF-1868-C9D9-E298-165E3F743528}"/>
              </a:ext>
            </a:extLst>
          </p:cNvPr>
          <p:cNvSpPr>
            <a:spLocks noGrp="1"/>
          </p:cNvSpPr>
          <p:nvPr>
            <p:ph idx="1"/>
          </p:nvPr>
        </p:nvSpPr>
        <p:spPr>
          <a:xfrm>
            <a:off x="960565" y="1088591"/>
            <a:ext cx="10560439" cy="2048021"/>
          </a:xfrm>
        </p:spPr>
        <p:txBody>
          <a:bodyPr>
            <a:normAutofit fontScale="92500" lnSpcReduction="20000"/>
          </a:bodyPr>
          <a:lstStyle/>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Operating System :		Windows 10/11, Ubuntu 20.04, or macOS</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Frontend :	 		HTML, CSS, Next.js(to build user interface)</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Backend :			Node.js, Express.js</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Database :			MongoDB</a:t>
            </a:r>
          </a:p>
          <a:p>
            <a:pPr>
              <a:buFont typeface="Courier New" panose="02070309020205020404" pitchFamily="49" charset="0"/>
              <a:buChar char="o"/>
            </a:pPr>
            <a:r>
              <a:rPr lang="en-US" dirty="0">
                <a:latin typeface="Times New Roman" panose="02020603050405020304" pitchFamily="18" charset="0"/>
                <a:cs typeface="Times New Roman" panose="02020603050405020304" pitchFamily="18" charset="0"/>
              </a:rPr>
              <a:t>Dev Tools:			VS Code, Git &amp; GitHub(for version control &amp; project sharing)</a:t>
            </a:r>
          </a:p>
          <a:p>
            <a:endParaRPr lang="en-US" i="1" dirty="0"/>
          </a:p>
          <a:p>
            <a:pPr algn="just">
              <a:buFont typeface="Wingdings" panose="05000000000000000000" pitchFamily="2" charset="2"/>
              <a:buChar char="Ø"/>
            </a:pPr>
            <a:endParaRPr lang="en-US" dirty="0"/>
          </a:p>
        </p:txBody>
      </p:sp>
      <p:sp>
        <p:nvSpPr>
          <p:cNvPr id="5" name="TextBox 4">
            <a:extLst>
              <a:ext uri="{FF2B5EF4-FFF2-40B4-BE49-F238E27FC236}">
                <a16:creationId xmlns:a16="http://schemas.microsoft.com/office/drawing/2014/main" id="{3D05791E-7594-D122-0BE7-FD2DC52CC879}"/>
              </a:ext>
            </a:extLst>
          </p:cNvPr>
          <p:cNvSpPr txBox="1"/>
          <p:nvPr/>
        </p:nvSpPr>
        <p:spPr>
          <a:xfrm>
            <a:off x="996823" y="3948870"/>
            <a:ext cx="10145519" cy="3089564"/>
          </a:xfrm>
          <a:prstGeom prst="rect">
            <a:avLst/>
          </a:prstGeom>
          <a:noFill/>
        </p:spPr>
        <p:txBody>
          <a:bodyPr wrap="square" rtlCol="0">
            <a:spAutoFit/>
          </a:bodyPr>
          <a:lstStyle/>
          <a:p>
            <a:pPr marL="285750" lvl="0" indent="-285750" eaLnBrk="0" fontAlgn="base" hangingPunct="0">
              <a:lnSpc>
                <a:spcPct val="150000"/>
              </a:lnSpc>
              <a:spcBef>
                <a:spcPct val="0"/>
              </a:spcBef>
              <a:spcAft>
                <a:spcPct val="0"/>
              </a:spcAft>
              <a:buFont typeface="Courier New" panose="02070309020205020404" pitchFamily="49" charset="0"/>
              <a:buChar char="o"/>
            </a:pPr>
            <a:r>
              <a:rPr lang="en-US" altLang="en-US" sz="1600" dirty="0">
                <a:latin typeface="Times New Roman" panose="02020603050405020304" pitchFamily="18" charset="0"/>
                <a:cs typeface="Times New Roman" panose="02020603050405020304" pitchFamily="18" charset="0"/>
              </a:rPr>
              <a:t>CPU(Processor) :			Intel Core i3 (8th Gen) / AMD Ryzen 3</a:t>
            </a:r>
          </a:p>
          <a:p>
            <a:pPr marL="285750" lvl="0" indent="-285750" eaLnBrk="0" fontAlgn="base" hangingPunct="0">
              <a:lnSpc>
                <a:spcPct val="150000"/>
              </a:lnSpc>
              <a:spcBef>
                <a:spcPct val="0"/>
              </a:spcBef>
              <a:spcAft>
                <a:spcPct val="0"/>
              </a:spcAft>
              <a:buFont typeface="Courier New" panose="02070309020205020404" pitchFamily="49" charset="0"/>
              <a:buChar char="o"/>
            </a:pPr>
            <a:r>
              <a:rPr lang="en-US" altLang="en-US" sz="1600" dirty="0">
                <a:latin typeface="Times New Roman" panose="02020603050405020304" pitchFamily="18" charset="0"/>
                <a:cs typeface="Times New Roman" panose="02020603050405020304" pitchFamily="18" charset="0"/>
              </a:rPr>
              <a:t>RAM :				4 GB</a:t>
            </a:r>
          </a:p>
          <a:p>
            <a:pPr marL="285750" lvl="0" indent="-285750" eaLnBrk="0" fontAlgn="base" hangingPunct="0">
              <a:lnSpc>
                <a:spcPct val="150000"/>
              </a:lnSpc>
              <a:spcBef>
                <a:spcPct val="0"/>
              </a:spcBef>
              <a:spcAft>
                <a:spcPct val="0"/>
              </a:spcAft>
              <a:buFont typeface="Courier New" panose="02070309020205020404" pitchFamily="49" charset="0"/>
              <a:buChar char="o"/>
            </a:pPr>
            <a:r>
              <a:rPr lang="en-US" altLang="en-US" sz="1600" dirty="0">
                <a:latin typeface="Times New Roman" panose="02020603050405020304" pitchFamily="18" charset="0"/>
                <a:cs typeface="Times New Roman" panose="02020603050405020304" pitchFamily="18" charset="0"/>
              </a:rPr>
              <a:t>Storage :			250 GB HDD/SSD</a:t>
            </a:r>
          </a:p>
          <a:p>
            <a:pPr marL="285750" lvl="0" indent="-285750" eaLnBrk="0" fontAlgn="base" hangingPunct="0">
              <a:lnSpc>
                <a:spcPct val="150000"/>
              </a:lnSpc>
              <a:spcBef>
                <a:spcPct val="0"/>
              </a:spcBef>
              <a:spcAft>
                <a:spcPct val="0"/>
              </a:spcAft>
              <a:buFont typeface="Courier New" panose="02070309020205020404" pitchFamily="49" charset="0"/>
              <a:buChar char="o"/>
            </a:pPr>
            <a:r>
              <a:rPr lang="en-US" altLang="en-US" sz="1600" dirty="0">
                <a:latin typeface="Times New Roman" panose="02020603050405020304" pitchFamily="18" charset="0"/>
                <a:cs typeface="Times New Roman" panose="02020603050405020304" pitchFamily="18" charset="0"/>
              </a:rPr>
              <a:t>Display : 			1024×768 resolution monitor</a:t>
            </a:r>
          </a:p>
          <a:p>
            <a:pPr marL="285750" lvl="0" indent="-285750" eaLnBrk="0" fontAlgn="base" hangingPunct="0">
              <a:lnSpc>
                <a:spcPct val="150000"/>
              </a:lnSpc>
              <a:spcBef>
                <a:spcPct val="0"/>
              </a:spcBef>
              <a:spcAft>
                <a:spcPct val="0"/>
              </a:spcAft>
              <a:buFont typeface="Courier New" panose="02070309020205020404" pitchFamily="49" charset="0"/>
              <a:buChar char="o"/>
            </a:pPr>
            <a:r>
              <a:rPr lang="en-US" altLang="en-US" sz="1600" dirty="0">
                <a:latin typeface="Times New Roman" panose="02020603050405020304" pitchFamily="18" charset="0"/>
                <a:cs typeface="Times New Roman" panose="02020603050405020304" pitchFamily="18" charset="0"/>
              </a:rPr>
              <a:t>Network :			5 Mbps or higher internet</a:t>
            </a:r>
            <a:br>
              <a:rPr lang="en-US" altLang="en-US" sz="1600" dirty="0">
                <a:latin typeface="Times New Roman" panose="02020603050405020304" pitchFamily="18" charset="0"/>
                <a:cs typeface="Times New Roman" panose="02020603050405020304" pitchFamily="18" charset="0"/>
              </a:rPr>
            </a:br>
            <a:endParaRPr lang="en-US" altLang="en-US" sz="1600" dirty="0">
              <a:latin typeface="Times New Roman" panose="02020603050405020304" pitchFamily="18" charset="0"/>
              <a:cs typeface="Times New Roman" panose="02020603050405020304" pitchFamily="18" charset="0"/>
            </a:endParaRPr>
          </a:p>
          <a:p>
            <a:pPr lvl="1" eaLnBrk="0" fontAlgn="base" hangingPunct="0">
              <a:lnSpc>
                <a:spcPct val="150000"/>
              </a:lnSpc>
              <a:spcBef>
                <a:spcPct val="0"/>
              </a:spcBef>
              <a:spcAft>
                <a:spcPct val="0"/>
              </a:spcAft>
            </a:pPr>
            <a:endParaRPr lang="en-US" altLang="en-US" sz="1600" dirty="0">
              <a:latin typeface="Times New Roman" panose="02020603050405020304" pitchFamily="18" charset="0"/>
              <a:cs typeface="Times New Roman" panose="02020603050405020304" pitchFamily="18" charset="0"/>
            </a:endParaRPr>
          </a:p>
          <a:p>
            <a:pPr marL="2571750" lvl="5" indent="-285750">
              <a:lnSpc>
                <a:spcPct val="150000"/>
              </a:lnSpc>
              <a:buFont typeface="Courier New" panose="02070309020205020404" pitchFamily="49" charset="0"/>
              <a:buChar char="o"/>
            </a:pPr>
            <a:endParaRPr lang="en-US" sz="1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37333D7-4575-24EA-F072-A1107E4ED2B1}"/>
              </a:ext>
            </a:extLst>
          </p:cNvPr>
          <p:cNvSpPr txBox="1"/>
          <p:nvPr/>
        </p:nvSpPr>
        <p:spPr>
          <a:xfrm>
            <a:off x="3256923" y="3136612"/>
            <a:ext cx="6105582" cy="584775"/>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HARDWARE REQUIREMENTS</a:t>
            </a:r>
            <a:endParaRPr lang="en-US" sz="3200" b="1" dirty="0"/>
          </a:p>
        </p:txBody>
      </p:sp>
      <p:sp>
        <p:nvSpPr>
          <p:cNvPr id="7" name="TextBox 6">
            <a:extLst>
              <a:ext uri="{FF2B5EF4-FFF2-40B4-BE49-F238E27FC236}">
                <a16:creationId xmlns:a16="http://schemas.microsoft.com/office/drawing/2014/main" id="{A06BDA1C-A544-3188-0FB7-BD10AB42A3C5}"/>
              </a:ext>
            </a:extLst>
          </p:cNvPr>
          <p:cNvSpPr txBox="1"/>
          <p:nvPr/>
        </p:nvSpPr>
        <p:spPr>
          <a:xfrm>
            <a:off x="3112138" y="211428"/>
            <a:ext cx="5967724" cy="584775"/>
          </a:xfrm>
          <a:prstGeom prst="rect">
            <a:avLst/>
          </a:prstGeom>
          <a:noFill/>
        </p:spPr>
        <p:txBody>
          <a:bodyPr wrap="none" rtlCol="0">
            <a:spAutoFit/>
          </a:bodyPr>
          <a:lstStyle/>
          <a:p>
            <a:pPr algn="ctr"/>
            <a:r>
              <a:rPr lang="en-IN" sz="3200" b="1" u="sng" dirty="0">
                <a:latin typeface="Times New Roman" panose="02020603050405020304" pitchFamily="18" charset="0"/>
                <a:cs typeface="Times New Roman" panose="02020603050405020304" pitchFamily="18" charset="0"/>
              </a:rPr>
              <a:t>SOFTWARE REQUIREMENTS</a:t>
            </a:r>
            <a:endParaRPr lang="en-US" sz="3200" b="1" dirty="0"/>
          </a:p>
        </p:txBody>
      </p:sp>
    </p:spTree>
    <p:extLst>
      <p:ext uri="{BB962C8B-B14F-4D97-AF65-F5344CB8AC3E}">
        <p14:creationId xmlns:p14="http://schemas.microsoft.com/office/powerpoint/2010/main" val="1805136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5FF32-285A-1D5F-B31B-2E25E2199C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85D69-3ED8-9531-BBB6-CEC4D426D6F0}"/>
              </a:ext>
            </a:extLst>
          </p:cNvPr>
          <p:cNvSpPr>
            <a:spLocks noGrp="1"/>
          </p:cNvSpPr>
          <p:nvPr>
            <p:ph type="title"/>
          </p:nvPr>
        </p:nvSpPr>
        <p:spPr>
          <a:xfrm>
            <a:off x="3943718" y="540773"/>
            <a:ext cx="4304563" cy="585511"/>
          </a:xfrm>
        </p:spPr>
        <p:txBody>
          <a:bodyPr/>
          <a:lstStyle/>
          <a:p>
            <a:pPr algn="ctr"/>
            <a:r>
              <a:rPr lang="en-IN" u="sng" dirty="0">
                <a:latin typeface="Times New Roman" panose="02020603050405020304" pitchFamily="18" charset="0"/>
                <a:cs typeface="Times New Roman" panose="02020603050405020304" pitchFamily="18" charset="0"/>
              </a:rPr>
              <a:t>conclusion</a:t>
            </a:r>
            <a:endParaRPr lang="en-US" u="sng"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E793B05E-9225-98B2-EAFD-F15C7AC72935}"/>
              </a:ext>
            </a:extLst>
          </p:cNvPr>
          <p:cNvSpPr>
            <a:spLocks noGrp="1" noChangeArrowheads="1"/>
          </p:cNvSpPr>
          <p:nvPr>
            <p:ph idx="1"/>
          </p:nvPr>
        </p:nvSpPr>
        <p:spPr bwMode="auto">
          <a:xfrm>
            <a:off x="817404" y="1682255"/>
            <a:ext cx="10557192" cy="3768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latin typeface="Times New Roman" panose="02020603050405020304" pitchFamily="18" charset="0"/>
                <a:cs typeface="Times New Roman" panose="02020603050405020304" pitchFamily="18" charset="0"/>
              </a:rPr>
              <a:t>Unifies the Agricultural Ecosystem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AgroConnect</a:t>
            </a:r>
            <a:r>
              <a:rPr lang="en-US" dirty="0">
                <a:latin typeface="Times New Roman" panose="02020603050405020304" pitchFamily="18" charset="0"/>
                <a:cs typeface="Times New Roman" panose="02020603050405020304" pitchFamily="18" charset="0"/>
              </a:rPr>
              <a:t> bridges the gap between  farmers, and buyers by offering a centralized digital platform for land produced sales.</a:t>
            </a:r>
          </a:p>
          <a:p>
            <a:r>
              <a:rPr lang="en-US" b="1" dirty="0">
                <a:latin typeface="Times New Roman" panose="02020603050405020304" pitchFamily="18" charset="0"/>
                <a:cs typeface="Times New Roman" panose="02020603050405020304" pitchFamily="18" charset="0"/>
              </a:rPr>
              <a:t>Boosts Profitability &amp; Efficiency</a:t>
            </a:r>
            <a:r>
              <a:rPr lang="en-US" dirty="0">
                <a:latin typeface="Times New Roman" panose="02020603050405020304" pitchFamily="18" charset="0"/>
                <a:cs typeface="Times New Roman" panose="02020603050405020304" pitchFamily="18" charset="0"/>
              </a:rPr>
              <a:t>: By eliminating middlemen, it empowers farmers to increase profits while buyers benefit from reduced costs and greater supply chain transparency.</a:t>
            </a:r>
          </a:p>
          <a:p>
            <a:r>
              <a:rPr lang="en-US" b="1" dirty="0">
                <a:latin typeface="Times New Roman" panose="02020603050405020304" pitchFamily="18" charset="0"/>
                <a:cs typeface="Times New Roman" panose="02020603050405020304" pitchFamily="18" charset="0"/>
              </a:rPr>
              <a:t>Trust-Based Transactions</a:t>
            </a:r>
            <a:r>
              <a:rPr lang="en-US" dirty="0">
                <a:latin typeface="Times New Roman" panose="02020603050405020304" pitchFamily="18" charset="0"/>
                <a:cs typeface="Times New Roman" panose="02020603050405020304" pitchFamily="18" charset="0"/>
              </a:rPr>
              <a:t>: Secure payments, digital contracts, and user ratings promote reliable, transparent, and risk-free interactions among all stakeholders.</a:t>
            </a:r>
          </a:p>
          <a:p>
            <a:r>
              <a:rPr lang="en-US" b="1" dirty="0">
                <a:latin typeface="Times New Roman" panose="02020603050405020304" pitchFamily="18" charset="0"/>
                <a:cs typeface="Times New Roman" panose="02020603050405020304" pitchFamily="18" charset="0"/>
              </a:rPr>
              <a:t>Drives Sustainable Growth</a:t>
            </a:r>
            <a:r>
              <a:rPr lang="en-US" dirty="0">
                <a:latin typeface="Times New Roman" panose="02020603050405020304" pitchFamily="18" charset="0"/>
                <a:cs typeface="Times New Roman" panose="02020603050405020304" pitchFamily="18" charset="0"/>
              </a:rPr>
              <a:t>: The system modernizes agriculture through technology, encouraging better resource use, expanding market access, and laying the foundation for a resilient future in farming.</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683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CB51C36-810D-F92A-6B17-2ADE61D3FB18}"/>
              </a:ext>
            </a:extLst>
          </p:cNvPr>
          <p:cNvSpPr/>
          <p:nvPr/>
        </p:nvSpPr>
        <p:spPr>
          <a:xfrm>
            <a:off x="1639951" y="1760704"/>
            <a:ext cx="9044079" cy="1862048"/>
          </a:xfrm>
          <a:prstGeom prst="rect">
            <a:avLst/>
          </a:prstGeom>
          <a:noFill/>
        </p:spPr>
        <p:txBody>
          <a:bodyPr wrap="none" lIns="91440" tIns="45720" rIns="91440" bIns="45720">
            <a:spAutoFit/>
          </a:bodyPr>
          <a:lstStyle/>
          <a:p>
            <a:pPr algn="ctr"/>
            <a:r>
              <a:rPr lang="en-US" sz="11500" b="0" cap="none" spc="0" dirty="0">
                <a:ln w="0"/>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3729815424"/>
      </p:ext>
    </p:extLst>
  </p:cSld>
  <p:clrMapOvr>
    <a:masterClrMapping/>
  </p:clrMapOvr>
</p:sld>
</file>

<file path=ppt/theme/theme1.xml><?xml version="1.0" encoding="utf-8"?>
<a:theme xmlns:a="http://schemas.openxmlformats.org/drawingml/2006/main" name="GradientRiseVTI">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Avenir">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VTI" id="{C2FC082F-B444-4222-AF20-78444CCB5722}" vid="{39F213E4-0CBC-40CB-B3F6-8C5562B6B99A}"/>
    </a:ext>
  </a:extLst>
</a:theme>
</file>

<file path=docProps/app.xml><?xml version="1.0" encoding="utf-8"?>
<Properties xmlns="http://schemas.openxmlformats.org/officeDocument/2006/extended-properties" xmlns:vt="http://schemas.openxmlformats.org/officeDocument/2006/docPropsVTypes">
  <Template>Gradient rise</Template>
  <TotalTime>368</TotalTime>
  <Words>946</Words>
  <Application>Microsoft Office PowerPoint</Application>
  <PresentationFormat>Widescreen</PresentationFormat>
  <Paragraphs>108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Avenir Next LT Pro</vt:lpstr>
      <vt:lpstr>Avenir Next LT Pro Light</vt:lpstr>
      <vt:lpstr>Courier New</vt:lpstr>
      <vt:lpstr>Times New Roman</vt:lpstr>
      <vt:lpstr>Wingdings</vt:lpstr>
      <vt:lpstr>GradientRiseVTI</vt:lpstr>
      <vt:lpstr>PowerPoint Presentation</vt:lpstr>
      <vt:lpstr>PowerPoint Presentation</vt:lpstr>
      <vt:lpstr>Introduction</vt:lpstr>
      <vt:lpstr>ABSTRACt</vt:lpstr>
      <vt:lpstr>EXISTING SYSTEM</vt:lpstr>
      <vt:lpstr>DISADVANTAGES</vt:lpstr>
      <vt:lpstr>PROPOSED SYSTEM</vt:lpstr>
      <vt:lpstr>ADVANTAGES</vt:lpstr>
      <vt:lpstr>PowerPoint Presentation</vt:lpstr>
      <vt:lpstr>use case diagram</vt:lpstr>
      <vt:lpstr>Activity diagram</vt:lpstr>
      <vt:lpstr>class diagram</vt:lpstr>
      <vt:lpstr>sequence diagram</vt:lpstr>
      <vt:lpstr>Deployment  diagram </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Nikhil Pandu</dc:creator>
  <cp:lastModifiedBy>Jeevan Kumar</cp:lastModifiedBy>
  <cp:revision>25</cp:revision>
  <dcterms:created xsi:type="dcterms:W3CDTF">2025-02-07T14:30:05Z</dcterms:created>
  <dcterms:modified xsi:type="dcterms:W3CDTF">2025-10-24T05:14:09Z</dcterms:modified>
</cp:coreProperties>
</file>